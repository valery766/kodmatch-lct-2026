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handoutMasterIdLst>
    <p:handoutMasterId r:id="rId40"/>
  </p:handoutMasterIdLst>
  <p:sldIdLst>
    <p:sldId id="365" r:id="rId8"/>
    <p:sldId id="366" r:id="rId9"/>
    <p:sldId id="362" r:id="rId10"/>
    <p:sldId id="364" r:id="rId11"/>
    <p:sldId id="375" r:id="rId12"/>
    <p:sldId id="376" r:id="rId13"/>
    <p:sldId id="377" r:id="rId14"/>
    <p:sldId id="378" r:id="rId15"/>
    <p:sldId id="379" r:id="rId16"/>
    <p:sldId id="380" r:id="rId17"/>
    <p:sldId id="381" r:id="rId18"/>
    <p:sldId id="382" r:id="rId19"/>
    <p:sldId id="383" r:id="rId20"/>
    <p:sldId id="384" r:id="rId21"/>
    <p:sldId id="385" r:id="rId22"/>
    <p:sldId id="386" r:id="rId23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>
            <p14:sldId id="333"/>
            <p14:sldId id="326"/>
            <p14:sldId id="327"/>
            <p14:sldId id="367"/>
            <p14:sldId id="325"/>
            <p14:sldId id="355"/>
          </p14:sldIdLst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369"/>
            <p14:sldId id="372"/>
            <p14:sldId id="373"/>
            <p14:sldId id="370"/>
            <p14:sldId id="371"/>
            <p14:sldId id="374"/>
            <p14:sldId id="260"/>
            <p14:sldId id="261"/>
            <p14:sldId id="262"/>
            <p14:sldId id="263"/>
            <p14:sldId id="266"/>
            <p14:sldId id="264"/>
            <p14:sldId id="268"/>
            <p14:sldId id="267"/>
            <p14:sldId id="269"/>
            <p14:sldId id="270"/>
            <p14:sldId id="271"/>
            <p14:sldId id="272"/>
          </p14:sldIdLst>
        </p14:section>
        <p14:section name="Материалы" id="{0F84D0DE-CEB1-417E-B269-8B3EB04B5FA6}">
          <p14:sldIdLst>
            <p14:sldId id="338"/>
            <p14:sldId id="368"/>
            <p14:sldId id="341"/>
            <p14:sldId id="342"/>
            <p14:sldId id="343"/>
            <p14:sldId id="344"/>
            <p14:sldId id="346"/>
            <p14:sldId id="357"/>
          </p14:sldIdLst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63" autoAdjust="0"/>
    <p:restoredTop sz="95857"/>
  </p:normalViewPr>
  <p:slideViewPr>
    <p:cSldViewPr snapToGrid="0" showGuides="1">
      <p:cViewPr varScale="1">
        <p:scale>
          <a:sx n="91" d="100"/>
          <a:sy n="91" d="100"/>
        </p:scale>
        <p:origin x="200" y="632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Валерий отвечает за продукт, серверную часть и механику доказательств. Михаил участвует в совместной разработке, интерфейсах и дизайне. Главный контакт технической поддержки – codematch@mail.ru. Связь с командой указана через капитана.</a:t>
            </a:r>
          </a:p>
          <a:p/>
          <a:p>
            <a:r>
              <a:t>Доказательства: Исходный шаблон: слайд 9; неиспользуемые карточки 3–5 удалены, реальные карточки оставлены на исходных координатах. ФИО: screenshot команды. История, фотографии и телефон: основной ЛЦТ PPTX, слайд 3. Контакт поддержки: прямое сообщение владельца.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Вызов был не в том, чтобы просто показать резюме. Требовалось отделить заявленные навыки от подтвержденных и сохранить сопоставимость уникальных вариантов. Мы сделали единый план тестов, доверенный серверный оценщик и объяснимое ранжирование. При приёмке также исправили путаницу роли между вкладками и восстановление ответов. Контакты проверили не только в интерфейсе, но и в API и PDF.</a:t>
            </a:r>
          </a:p>
          <a:p/>
          <a:p>
            <a:r>
              <a:t>Доказательства: Исходный шаблон: слайд 10. История: основной ЛЦТ. Вызовы и фактические исправления: research/jury-acceptance-20261007/REPORT.md.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Мы – команда unecon.tech. КОД.МЭТЧ связывает работодателя и кандидата через подтвержденные навыки: сначала практический тест и категория, затем объяснимый подбор и конкретное предложение. Проект подготовлен для специального трека Федерации спортивного программирования.</a:t>
            </a:r>
          </a:p>
          <a:p/>
          <a:p>
            <a:r>
              <a:t>Доказательства: Исходный шаблон: слайд 7. ТЗ: описание задачи. Пользовательские данные команды.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команде два участника из Санкт-Петербурга. Мы работаем вместе на учебных и технических проектах СПбГЭУ, а опыт основного ЛЦТ и MAX использовали как контекст. В продукте кандидат подтверждает навыки, а компания сама приходит к нему с предложением. Уникальность – совместная работа сопоставимых тестов, понятного индекса подбора и согласия на контакт.</a:t>
            </a:r>
          </a:p>
          <a:p/>
          <a:p>
            <a:r>
              <a:t>Доказательства: Исходный шаблон: слайд 8. История/учеба: предоставленный основной ЛЦТ PPTX, слайды 2–4. Актуальные роли: сообщения владельца и screenshot команды.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Технически это самостоятельная платформа с двумя кабинетами, серверной категоризацией и прямыми приглашениями. Для компании она сокращает неопределенность на первом этапе поиска; для кандидата делает практические навыки видимыми. Коммерческий пилот и подписка – следующие гипотезы, а не уже подтвержденная выручка. Рабочий прототип доступен сейчас; live API ФСП мы не заявляем.</a:t>
            </a:r>
          </a:p>
          <a:p/>
          <a:p>
            <a:r>
              <a:t>Доказательства: Исходный шаблон: слайд 11. Архитектура/механики: текущая документация и domain source. Развитие и монетизация: гипотезы команды.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Покажем основной путь. Кандидат подтверждает email, заполняет анкету, выбирает специализацию и предполагаемый уровень и проходит практический тест. Только успешный результат создает подтвержденную категорию. Работодатель описывает потребность, видит подходящих кандидатов с объяснениями и отправляет предложение с вилкой зарплаты. Кандидат принимает или отклоняет. Контакт появляется по его решению. Это работает без обязательной публикации вакансии. Мы дополнительно реализовали и привычный сценарий: компания публикует вакансию, кандидат откликается сам. В обоих путях сервер применяет одну политику разрешений.</a:t>
            </a:r>
          </a:p>
          <a:p/>
          <a:p>
            <a:r>
              <a:t>Доказательства: ТЗ 2/3.1/3.3; candidates.py, employers.py; owner business evidence 07–08.10.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Выдача строится по правилам, которые можно проверить. Сначала специализация, подтвержденный грейд, отсутствие проваленных обязательных навыков и совместимость зарплаты и формата. В строгом режиме требуются доказательства всех обязательных навыков. Далее индекс складывается из четырех компонентов: до 60 баллов за обязательные навыки, 10 за желательные, 25 за качество теста и до 5 за доверенную историю ФСП. Каждый компонент виден в объяснении. Отсутствие ФСП не штрафуется. Достижения не создают грейд и не перекрывают неизвестное обязательное умение. Индекс не выдается за прогноз успеха найма; компания сохраняет решение.</a:t>
            </a:r>
          </a:p>
          <a:p/>
          <a:p>
            <a:r>
              <a:t>Доказательства: backend/app/domain/matching.py, WEIGHTS/version matching-1.0.0. XLSX B1/B5/B13.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Все формы категории используют один blueprint: пять заданий, одинаковые компетенции, веса и максимальные сто баллов. Параметры, входные данные и порядок вариантов различаются по seed. Это ограниченное семейство практических задач, а не свободно сгенерированный нейросетью экзамен. Ответы проверяет доверенный сервер. Python и TypeScript пользователя не исполняются; SQL выполняется только как read-only запрос в изолированной SQLite с лимитами. Junior требует 65 баллов, Middle 75 и не менее половины баллов каждой компетенции. Провал Middle не присваивает Junior автоматически. На попытку 45 минут; повтор ограничен 90 днями. Перезагрузка не теряет уже введенные ответы.</a:t>
            </a:r>
          </a:p>
          <a:p/>
          <a:p>
            <a:r>
              <a:t>Доказательства: assessment.py; candidates.py; frontend assessmentDraft.ts. Official XLSX B4/B9/B13; owner GUI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Мы отдельно проверили тестовую механику, не подменяя ее количеством unit-тестов. Сгенерировали 120 форм – по двадцать на каждую из шести категорий. Выполнили 720 оценок шести заранее заданных паттернов и повторили вычисление. Для основных трех паттернов сравнили 180 пар альтернативных форм: исход подтверждения совпал во всех парах, разница балла была нулевой. Слабый, пограничный и сильный паттерны дают 0, 66,67 и 100 баллов. Дословно перенесенный ответ не подтвердил грейд в 114 проверках. В прежнем эксперименте было одно случайное подтверждение из 72, мы его не скрываем. Это техническая симуляция, не доказательство психометрических свойств на людях.</a:t>
            </a:r>
          </a:p>
          <a:p/>
          <a:p>
            <a:r>
              <a:t>Доказательства: research/jury-validation-20261007/validation-evidence.json и VALIDATION_FOR_JURY.md; assessment-evidence-v1.json.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Качество подбора оценили отдельно на замороженном авторском наборе: сорок профилей и двенадцать потребностей, всего 480 меток релевантности. Половина потребностей – development, половина – holdout. Для holdout P@5 нашей механики равен 0,3333 против 0,2333 у baseline самоописаний. Пустые места в пятерке считаются нулем, поэтому это не точность среди возвращенных карточек. nDCG@5 равен 1,0 против 0,3794, но его знаменатель – пять запросов с положительными эталонами; один без релевантных кандидатов исключен. Критических несоответствий в top-5 нет. Это небольшой авторский синтетический набор, а не независимое HR-исследование и не обещание стопроцентного качества найма.</a:t>
            </a:r>
          </a:p>
          <a:p/>
          <a:p>
            <a:r>
              <a:t>Доказательства: matching-v1.json/matching-results-v1.json; fresh validation-evidence.json. Critical miss metric and denominator notes reproduced exactly.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Согласие – часть механики, а не декоративная галочка. До принятия приглашения компания видит профиль, навыки и историю, но не email, телефон и контактные ссылки. Кандидат может принять предложение или самостоятельно откликнуться на опубликованную вакансию; после этого возникает разрешение для конкретной компании. Он может отозвать его. Мы проверили, что новые запросы API и PDF снова закрывают контакты. Уже скачанный файл на чужом устройстве отозвать технически нельзя, это честно описано. ФИО и места работы разрешено показывать официальным ответом; контакты защищаются отдельно.</a:t>
            </a:r>
          </a:p>
          <a:p/>
          <a:p>
            <a:r>
              <a:t>Доказательства: Official XLSX B8; owner-jury-20261007-business-evidence.json; employers.py/pdf.py; current guide.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снимках опубликованный продукт в оформлении ФСП; кабинет работодателя обновлён 11 октября. В приёмке 7–8 октября на двух подтверждённых аккаунтах кандидата и одном работодателя мы прошли Python Junior и SQL Junior, подбор, приглашения с принятием и отказом, открытие и отзыв контактов, PDF, вакансии и собственные отклики. Короткая практика тоже проверена и не изменяет подтвержденный грейд. Это технические проходы владельца; они доказывают работу пути, а не квалификацию людей. Интерфейс адаптирован к мобильной ширине, управление меню и фокус проверены. 11 октября повторная проверка четырёх предоставленных подтверждённых аккаунтов прошла все 32 проверки. Отдельно новый аккаунт коллеги успешно прошёл GUI-тест с сохранением ответов после перезагрузки.</a:t>
            </a:r>
          </a:p>
          <a:p/>
          <a:p>
            <a:r>
              <a:t>Доказательства: research/jury-acceptance-20261007/REPORT.md, owner evidence, research/final-20261011/accounts-live/live-account-results.json, browser/gui-acceptance.json, browser/employer-live-20261011.jpg, candidate-mobile-detail.png. Screenshots dated; employer image shows its upper viewport using PPTX crop with source pixels retained; not fabricated live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MAX – дополнительный канал к тому же аккаунту. Бот дает статус, помощь, приглашения и короткие задачи. Одноразовая привязка и ее отзыв проверены в реальном веб-клиенте MAX. Получены настоящие уведомления о приглашении и практике. Подписанное мини-приложение открывает правильный кабинет и использует общие серверные правила. Мы не создавали отдельную базу грейдов в боте. 11 октября подтверждены привязки двух аккаунтов кандидатов к MAX. Полный цикл на MAX identity работодателя и физических телефонах отделен от подтвержденного веб-прогона; это остающаяся граница приемки, которую нельзя заменить скриншотом.</a:t>
            </a:r>
          </a:p>
          <a:p/>
          <a:p>
            <a:r>
              <a:t>Доказательства: max-live-ui.json; owner-jury-20261007-microtask-evidence.json; signed MAX WebApp screenshot; fresh accounts-live/live-account-results.json confirms two linked candidate identities. No credentials/initData in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Архитектура разделяет frontend, серверную бизнес-логику и PostgreSQL. В базе хранятся профили, попытки, решения и outbox доставки. Worker отправляет email и MAX. На сервере работает компактная локальная Qwen3 4B с квантованием Q4, лимитами восемь CPU и восемь гигабайт; публичного порта у модели нет. На действующем релизе разбор потребности занял 29,154 секунды, пояснение – 5,884 секунды; в проверке объяснение сохранило детерминированный индекс 97. Ее задача – превратить свободное описание потребности в поля, которые пользователь подтверждает, и сформулировать пояснение по разрешенным фактам. Модель не ставит баллы, не меняет порядок и не открывает контакты. При таймауте действует резервный разбор правилами. Резюме и контакты не отправляются в LLM при действующей настройке запрета персональных данных.</a:t>
            </a:r>
          </a:p>
          <a:p/>
          <a:p>
            <a:r>
              <a:t>Доказательства: docker-compose.yml/config; llm-live.json; parsing.py/grounded_explanations.py; documented deployed model limits; fresh accounts-live/live-account-results.json confirms llm_structured/llm_grounded execution and unchanged score, 11.10.2026.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Дальнейший путь начинается с человеческой калибровки: независимые задания и HR-оценка, больше практических семейств, проверка семантического переноса и помощи LLM. Adapter ФСП уже выделен, но сейчас использует демонстрационный реестр: боевой API и доступ организатором не предоставлены. После получения официального контракта можно добавить реальное обогащение с происхождением доказательств. Для работодателей следующий шаг – пилот, статусы ATS и защита от фиктивных вакансий. Коммерческая подписка остается проверяемой гипотезой. Ядро MVP уже дает полный путь от теста до согласованного контакта. Свежая проверка: 186 локальных backend-тестов и 12 frontend-тестов; три PostgreSQL-теста выполнены отдельно на сервере без пропусков. Восстановление резервной копии прошло с точным совпадением контрольной суммы и числа строк таблиц.</a:t>
            </a:r>
          </a:p>
          <a:p/>
          <a:p>
            <a:r>
              <a:t>Доказательства: Official XLSX B4/B14/B15; no-live-access correspondence; fsp adapter/API documentation. Roadmap is proposed, not claimed as shipped. Fresh server checks 11.10.2026, runtime 0.1.0-20261011T104017Z, PostgreSQL 3/3 PASS and backup restore checksum/table count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КОД.МЭТЧ превращает практические навыки в понятную категорию, объяснимый подбор и предложение, которое кандидат контролирует. Стенд и MAX доступны по ссылкам. В комплекте – документация, исходники и воспроизводимые результаты проверки. На демонстрации предлагаем пройти путь двух ролей и проверить момент открытия контактов. Спасибо; готовы показать механику и ответить на вопросы.</a:t>
            </a:r>
          </a:p>
          <a:p/>
          <a:p>
            <a:r>
              <a:t>Доказательства: Public stand and bot links; corresponding packet links supplied in delivery README. GitHub exists and is private as of 11.10.2026. Owner controls publication; source snapshot is also in the delivery packet.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02.10.2026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02.10.2026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02.10.2026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02.10.2026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02.10.2026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02.10.2026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02.10.2026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image" Target="../media/image3.png"/><Relationship Id="rId7" Type="http://schemas.openxmlformats.org/officeDocument/2006/relationships/hyperlink" Target="mailto:codematch@mail.ru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fsp.digital-projects.tech" TargetMode="External"/><Relationship Id="rId4" Type="http://schemas.openxmlformats.org/officeDocument/2006/relationships/hyperlink" Target="https://max.ru/se14505142_1_bot" TargetMode="External"/><Relationship Id="rId5" Type="http://schemas.openxmlformats.org/officeDocument/2006/relationships/hyperlink" Target="https://github.com/Valery766/kodmatch-lct-2026" TargetMode="External"/><Relationship Id="rId6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 wrap="square" lIns="640080" rIns="36576" tIns="18288" bIns="18288"/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3800" b="1">
                <a:solidFill>
                  <a:srgbClr val="FFFFFF"/>
                </a:solidFill>
                <a:latin typeface="Montserrat"/>
              </a:rPr>
              <a:t>КОД.МЭТЧ</a:t>
            </a:r>
            <a:endParaRPr lang="ru-RU" sz="48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3800" b="1">
                <a:solidFill>
                  <a:srgbClr val="FFFFFF"/>
                </a:solidFill>
                <a:latin typeface="Montserrat"/>
              </a:rPr>
              <a:t>unecon.tech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 wrap="square" lIns="640080" rIns="36576" tIns="18288" bIns="18288">
            <a:normAutofit lnSpcReduction="10000"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00" b="0">
                <a:solidFill>
                  <a:srgbClr val="FFFFFF"/>
                </a:solidFill>
                <a:latin typeface="Montserrat"/>
              </a:rPr>
              <a:t>Цифровая платформа-агрегатор ИТ-вакансий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00" b="0">
                <a:solidFill>
                  <a:srgbClr val="FFFFFF"/>
                </a:solidFill>
                <a:latin typeface="Montserrat"/>
              </a:rPr>
              <a:t>с верифицированным профилем достижений участника ФСП</a:t>
            </a: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0FC7892-251B-3371-00B1-416B799F0D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75" y="631174"/>
            <a:ext cx="4905194" cy="620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C7F1B208-7478-7BDA-1FDE-22C1555254C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35267"/>
            <a:ext cx="6456363" cy="2971784"/>
          </a:xfrm>
        </p:spPr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36576" tIns="18288" rIns="36576" bIns="18288" rtlCol="0" wrap="square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00" b="1">
                <a:solidFill>
                  <a:srgbClr val="520978"/>
                </a:solidFill>
                <a:latin typeface="Montserrat"/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1389888"/>
          </a:xfrm>
          <a:prstGeom prst="rect">
            <a:avLst/>
          </a:prstGeom>
          <a:ln>
            <a:noFill/>
          </a:ln>
        </p:spPr>
        <p:txBody>
          <a:bodyPr vert="horz" lIns="36576" tIns="18288" rIns="36576" bIns="18288" rtlCol="0" wrap="square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Font typeface="Wingdings" pitchFamily="2" charset="2"/>
              <a:buNone/>
            </a:pPr>
            <a:r>
              <a:rPr sz="1400" b="0">
                <a:solidFill>
                  <a:srgbClr val="1C1D22"/>
                </a:solidFill>
                <a:latin typeface="Montserrat"/>
              </a:rPr>
              <a:t>Сопоставимые варианты теста,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0">
                <a:solidFill>
                  <a:srgbClr val="1C1D22"/>
                </a:solidFill>
                <a:latin typeface="Montserrat"/>
              </a:rPr>
              <a:t>подбор по доказательствам и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0">
                <a:solidFill>
                  <a:srgbClr val="1C1D22"/>
                </a:solidFill>
                <a:latin typeface="Montserrat"/>
              </a:rPr>
              <a:t>управляемый выход на контакт.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0">
                <a:solidFill>
                  <a:srgbClr val="1C1D22"/>
                </a:solidFill>
                <a:latin typeface="Montserrat"/>
              </a:rPr>
              <a:t>ФСП – бонус внутри категории.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36576" tIns="18288" rIns="36576" bIns="18288" rtlCol="0" wrap="square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00" b="0">
                <a:solidFill>
                  <a:srgbClr val="1C1D22"/>
                </a:solidFill>
                <a:latin typeface="Montserrat"/>
              </a:rPr>
              <a:t>Капитан: Валерий Черевко,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00" b="0">
                <a:solidFill>
                  <a:srgbClr val="1C1D22"/>
                </a:solidFill>
                <a:latin typeface="Montserrat"/>
              </a:rPr>
              <a:t>экономист; архитектура и разработка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00" b="0">
                <a:solidFill>
                  <a:srgbClr val="1C1D22"/>
                </a:solidFill>
                <a:latin typeface="Montserrat"/>
              </a:rPr>
              <a:t>Участников: 2 человека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00" b="0">
                <a:solidFill>
                  <a:srgbClr val="1C1D22"/>
                </a:solidFill>
                <a:latin typeface="Montserrat"/>
              </a:rPr>
              <a:t>Команда сформировалась в СПбГЭУ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00" b="0">
                <a:solidFill>
                  <a:srgbClr val="1C1D22"/>
                </a:solidFill>
                <a:latin typeface="Montserrat"/>
              </a:rPr>
              <a:t>на проектах по анализу данных.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00" b="0">
                <a:solidFill>
                  <a:srgbClr val="1C1D22"/>
                </a:solidFill>
                <a:latin typeface="Montserrat"/>
              </a:rPr>
              <a:t>Город и регион: Санкт-Петербург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 wrap="square" lIns="36576" rIns="36576" tIns="18288" bIns="18288"/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500" b="1">
                <a:solidFill>
                  <a:srgbClr val="520978"/>
                </a:solidFill>
                <a:latin typeface="Montserrat"/>
              </a:rPr>
              <a:t>unecon.tech</a:t>
            </a:r>
            <a:endParaRPr lang="ru-RU" sz="2400" dirty="0">
              <a:solidFill>
                <a:schemeClr val="accent5"/>
              </a:solidFill>
              <a:latin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1389888"/>
          </a:xfrm>
          <a:prstGeom prst="rect">
            <a:avLst/>
          </a:prstGeom>
          <a:ln>
            <a:noFill/>
          </a:ln>
        </p:spPr>
        <p:txBody>
          <a:bodyPr vert="horz" lIns="36576" tIns="18288" rIns="36576" bIns="18288" rtlCol="0" wrap="square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Font typeface="Wingdings" pitchFamily="2" charset="2"/>
              <a:buNone/>
            </a:pPr>
            <a:r>
              <a:rPr sz="1400" b="0">
                <a:solidFill>
                  <a:srgbClr val="1C1D22"/>
                </a:solidFill>
                <a:latin typeface="Montserrat"/>
              </a:rPr>
              <a:t>Кандидат подтверждает навыки тестом.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0">
                <a:solidFill>
                  <a:srgbClr val="1C1D22"/>
                </a:solidFill>
                <a:latin typeface="Montserrat"/>
              </a:rPr>
              <a:t>Работодатель задаёт потребность,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0">
                <a:solidFill>
                  <a:srgbClr val="1C1D22"/>
                </a:solidFill>
                <a:latin typeface="Montserrat"/>
              </a:rPr>
              <a:t>получает подбор и отправляет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0">
                <a:solidFill>
                  <a:srgbClr val="1C1D22"/>
                </a:solidFill>
                <a:latin typeface="Montserrat"/>
              </a:rPr>
              <a:t>предложение с зарплатной вилкой.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wrap="square" lIns="36576" rIns="36576" tIns="18288" bIns="18288"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0">
                <a:solidFill>
                  <a:srgbClr val="520978"/>
                </a:solidFill>
                <a:latin typeface="Montserrat"/>
              </a:rPr>
              <a:t>2</a:t>
            </a:r>
            <a:endParaRPr lang="ru-RU" sz="1200" dirty="0">
              <a:solidFill>
                <a:schemeClr val="accent5"/>
              </a:solidFill>
            </a:endParaRPr>
          </a:p>
        </p:txBody>
      </p:sp>
      <p:pic>
        <p:nvPicPr>
          <p:cNvPr id="19" name="Picture 18" descr="kodmatch-mark-symmetric-v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566928"/>
            <a:ext cx="2057400" cy="2057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816352" y="1069848"/>
            <a:ext cx="3291840" cy="5760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800" b="1">
                <a:solidFill>
                  <a:srgbClr val="520978"/>
                </a:solidFill>
                <a:latin typeface="Montserrat"/>
              </a:rPr>
              <a:t>Навыки.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16352" y="1645920"/>
            <a:ext cx="3474720" cy="5760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400" b="1">
                <a:solidFill>
                  <a:srgbClr val="520978"/>
                </a:solidFill>
                <a:latin typeface="Montserrat"/>
              </a:rPr>
              <a:t>Доказательства.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16352" y="2185416"/>
            <a:ext cx="3291840" cy="5760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500" b="1">
                <a:solidFill>
                  <a:srgbClr val="520978"/>
                </a:solidFill>
                <a:latin typeface="Montserrat"/>
              </a:rPr>
              <a:t>Совпадение.</a:t>
            </a: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2651394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36576" tIns="18288" rIns="36576" bIns="18288" rtlCol="0" wrap="square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</a:pPr>
            <a:r>
              <a:rPr sz="1200" b="0">
                <a:solidFill>
                  <a:srgbClr val="1C1D22"/>
                </a:solidFill>
                <a:latin typeface="Montserrat"/>
              </a:rPr>
              <a:t>Совместная разработка,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0">
                <a:solidFill>
                  <a:srgbClr val="1C1D22"/>
                </a:solidFill>
                <a:latin typeface="Montserrat"/>
              </a:rPr>
              <a:t>интерфейсы и дизайн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0">
                <a:solidFill>
                  <a:srgbClr val="1C1D22"/>
                </a:solidFill>
                <a:latin typeface="Montserrat"/>
              </a:rPr>
              <a:t>Связь через капитана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0">
                <a:solidFill>
                  <a:srgbClr val="1C1D22"/>
                </a:solidFill>
                <a:latin typeface="Montserrat"/>
              </a:rPr>
              <a:t>+7 995 600-85-86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0">
                <a:solidFill>
                  <a:srgbClr val="1C1D22"/>
                </a:solidFill>
                <a:latin typeface="Montserrat"/>
              </a:rPr>
              <a:t>СПбГЭУ: УИТ;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0">
                <a:solidFill>
                  <a:srgbClr val="1C1D22"/>
                </a:solidFill>
                <a:latin typeface="Montserrat"/>
              </a:rPr>
              <a:t>студент, экономика</a:t>
            </a: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36576" tIns="18288" rIns="36576" bIns="18288" rtlCol="0" wrap="square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1">
                <a:solidFill>
                  <a:srgbClr val="520978"/>
                </a:solidFill>
                <a:latin typeface="Montserrat"/>
              </a:rPr>
              <a:t>Бережных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1">
                <a:solidFill>
                  <a:srgbClr val="520978"/>
                </a:solidFill>
                <a:latin typeface="Montserrat"/>
              </a:rPr>
              <a:t>Михаил Алексеевич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346076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wrap="square" lIns="36576" rIns="36576" tIns="18288" bIns="18288"/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0">
                <a:solidFill>
                  <a:srgbClr val="FFFFFF"/>
                </a:solidFill>
                <a:latin typeface="Montserrat"/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 wrap="square" lIns="36576" rIns="36576" tIns="18288" bIns="18288"/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000" b="1">
                <a:solidFill>
                  <a:srgbClr val="FFFFFF"/>
                </a:solidFill>
                <a:latin typeface="Montserrat"/>
              </a:rPr>
              <a:t>КОМАНДА UNECON.TECH</a:t>
            </a:r>
            <a:endParaRPr lang="ru-RU" dirty="0">
              <a:latin typeface="+mn-lt"/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18360" y="4250028"/>
            <a:ext cx="1894354" cy="1624612"/>
          </a:xfrm>
        </p:spPr>
        <p:txBody>
          <a:bodyPr wrap="square" lIns="36576" rIns="36576" tIns="18288" bIns="18288">
            <a:normAutofit/>
          </a:bodyPr>
          <a:lstStyle/>
          <a:p>
            <a:pPr rtl="0" fontAlgn="base"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</a:pPr>
            <a:r>
              <a:rPr sz="1200" b="0">
                <a:solidFill>
                  <a:srgbClr val="1C1D22"/>
                </a:solidFill>
                <a:latin typeface="Montserrat"/>
              </a:rPr>
              <a:t>Капитан; продукт,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0">
                <a:solidFill>
                  <a:srgbClr val="1C1D22"/>
                </a:solidFill>
                <a:latin typeface="Montserrat"/>
              </a:rPr>
              <a:t>backend, ML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0">
                <a:solidFill>
                  <a:srgbClr val="1C1D22"/>
                </a:solidFill>
                <a:latin typeface="Montserrat"/>
              </a:rPr>
              <a:t>@vacherev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0">
                <a:solidFill>
                  <a:srgbClr val="1C1D22"/>
                </a:solidFill>
                <a:latin typeface="Montserrat"/>
              </a:rPr>
              <a:t>+7 993 078-03-09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0">
                <a:solidFill>
                  <a:srgbClr val="1C1D22"/>
                </a:solidFill>
                <a:latin typeface="Montserrat"/>
              </a:rPr>
              <a:t>СПбГЭУ: УИТ;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0">
                <a:solidFill>
                  <a:srgbClr val="1C1D22"/>
                </a:solidFill>
                <a:latin typeface="Montserrat"/>
              </a:rPr>
              <a:t>студент, экономика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36576" tIns="18288" rIns="36576" bIns="18288" rtlCol="0" wrap="square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1">
                <a:solidFill>
                  <a:srgbClr val="520978"/>
                </a:solidFill>
                <a:latin typeface="Montserrat"/>
              </a:rPr>
              <a:t>Черевко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1">
                <a:solidFill>
                  <a:srgbClr val="520978"/>
                </a:solidFill>
                <a:latin typeface="Montserrat"/>
              </a:rPr>
              <a:t>Валерий Евгеньевич</a:t>
            </a:r>
          </a:p>
        </p:txBody>
      </p:sp>
      <p:pic>
        <p:nvPicPr>
          <p:cNvPr id="59" name="Picture 58" descr="team-picture-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473" y="1815998"/>
            <a:ext cx="1164899" cy="1552651"/>
          </a:xfrm>
          <a:prstGeom prst="rect">
            <a:avLst/>
          </a:prstGeom>
        </p:spPr>
      </p:pic>
      <p:pic>
        <p:nvPicPr>
          <p:cNvPr id="60" name="Picture 59" descr="team-picture-1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4316" y="1815998"/>
            <a:ext cx="1207617" cy="1552651"/>
          </a:xfrm>
          <a:prstGeom prst="rect">
            <a:avLst/>
          </a:prstGeom>
        </p:spPr>
      </p:pic>
      <p:pic>
        <p:nvPicPr>
          <p:cNvPr id="61" name="Picture 60" descr="kodmatch-mark-symmetric-v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4536" y="1280160"/>
            <a:ext cx="3401568" cy="3401568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5696712" y="4910328"/>
            <a:ext cx="5687568" cy="52120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100" b="1">
                <a:solidFill>
                  <a:srgbClr val="FFFFFF"/>
                </a:solidFill>
                <a:latin typeface="Montserrat"/>
              </a:rPr>
              <a:t>Два участника. Один полный продукт.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96712" y="5550408"/>
            <a:ext cx="5687568" cy="5577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00" b="0">
                <a:solidFill>
                  <a:srgbClr val="FFFFFF"/>
                </a:solidFill>
                <a:latin typeface="Montserrat"/>
                <a:hlinkClick r:id="rId7"/>
              </a:rPr>
              <a:t>Техническая поддержка: codematch@mail.ru</a:t>
            </a: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wrap="square" lIns="36576" rIns="36576" tIns="18288" bIns="18288"/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0">
                <a:solidFill>
                  <a:srgbClr val="520978"/>
                </a:solidFill>
                <a:latin typeface="Montserrat"/>
              </a:rPr>
              <a:t>4</a:t>
            </a: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 wrap="square" lIns="36576" rIns="36576" tIns="18288" bIns="18288"/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000" b="1">
                <a:solidFill>
                  <a:srgbClr val="FFFFFF"/>
                </a:solidFill>
                <a:latin typeface="Montserrat"/>
              </a:rPr>
              <a:t>КОМАНДА И ВЫЗОВЫ</a:t>
            </a:r>
            <a:endParaRPr lang="ru-RU" dirty="0">
              <a:latin typeface="+mn-lt"/>
            </a:endParaRP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4425822" cy="934263"/>
          </a:xfrm>
        </p:spPr>
        <p:txBody>
          <a:bodyPr wrap="square" lIns="36576" rIns="36576" tIns="18288" bIns="18288"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0">
                <a:solidFill>
                  <a:srgbClr val="1C1D22"/>
                </a:solidFill>
                <a:latin typeface="Montserrat"/>
              </a:rPr>
              <a:t>Собрались в СПбГЭУ на проектах по анализу данных.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0">
                <a:solidFill>
                  <a:srgbClr val="1C1D22"/>
                </a:solidFill>
                <a:latin typeface="Montserrat"/>
              </a:rPr>
              <a:t>Развиваем ML- и веб-сервисы; опыт основного ЛЦТ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0">
                <a:solidFill>
                  <a:srgbClr val="1C1D22"/>
                </a:solidFill>
                <a:latin typeface="Montserrat"/>
              </a:rPr>
              <a:t>и MAX перенесли в архитектуру нового продукта.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36576" tIns="18288" rIns="36576" bIns="18288" rtlCol="0" wrap="square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0">
                <a:solidFill>
                  <a:srgbClr val="1C1D22"/>
                </a:solidFill>
                <a:latin typeface="Montserrat"/>
              </a:rPr>
              <a:t>Единый blueprint – сопоставимые варианты и детерминированная оценка.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0">
                <a:solidFill>
                  <a:srgbClr val="1C1D22"/>
                </a:solidFill>
                <a:latin typeface="Montserrat"/>
              </a:rPr>
              <a:t>API/UI/PDF – одинаковые правила закрытия и отзыва контактов.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0">
                <a:solidFill>
                  <a:srgbClr val="1C1D22"/>
                </a:solidFill>
                <a:latin typeface="Montserrat"/>
              </a:rPr>
              <a:t>Смена роли и reload – guards, синхронизация сессий и восстановление.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0">
                <a:solidFill>
                  <a:srgbClr val="1C1D22"/>
                </a:solidFill>
                <a:latin typeface="Montserrat"/>
              </a:rPr>
              <a:t>Локальная LLM – ограниченные ресурсы и резервный разбор.</a:t>
            </a: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36576" tIns="18288" rIns="36576" bIns="18288" rtlCol="0" wrap="square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0">
                <a:solidFill>
                  <a:srgbClr val="1C1D22"/>
                </a:solidFill>
                <a:latin typeface="Montserrat"/>
              </a:rPr>
              <a:t>Связать практические ИТ-навыки с карьерой.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0">
                <a:solidFill>
                  <a:srgbClr val="1C1D22"/>
                </a:solidFill>
                <a:latin typeface="Montserrat"/>
              </a:rPr>
              <a:t>Компании – доказательства, кандидату – предложение и выбор.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wrap="square" lIns="36576" rIns="36576" tIns="18288" bIns="18288"/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0">
                <a:solidFill>
                  <a:srgbClr val="FFFFFF"/>
                </a:solidFill>
                <a:latin typeface="Montserrat"/>
              </a:rPr>
              <a:t>5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 wrap="square" lIns="36576" rIns="36576" tIns="18288" bIns="18288"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700" b="0">
                <a:solidFill>
                  <a:srgbClr val="1C1D22"/>
                </a:solidFill>
                <a:latin typeface="Montserrat"/>
              </a:rPr>
              <a:t>Практический тест → подтверждённая категория.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700" b="0">
                <a:solidFill>
                  <a:srgbClr val="1C1D22"/>
                </a:solidFill>
                <a:latin typeface="Montserrat"/>
              </a:rPr>
              <a:t>Потребность → фильтры → индекс совпадения.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700" b="0">
                <a:solidFill>
                  <a:srgbClr val="1C1D22"/>
                </a:solidFill>
                <a:latin typeface="Montserrat"/>
              </a:rPr>
              <a:t>Прямое приглашение с зарплатной вилкой.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700" b="0">
                <a:solidFill>
                  <a:srgbClr val="1C1D22"/>
                </a:solidFill>
                <a:latin typeface="Montserrat"/>
              </a:rPr>
              <a:t>Контакты по согласию; контроль в API и PDF.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700" b="0">
                <a:solidFill>
                  <a:srgbClr val="1C1D22"/>
                </a:solidFill>
                <a:latin typeface="Montserrat"/>
              </a:rPr>
              <a:t>FastAPI + React + PostgreSQL + Docker.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700" b="0">
                <a:solidFill>
                  <a:srgbClr val="1C1D22"/>
                </a:solidFill>
                <a:latin typeface="Montserrat"/>
              </a:rPr>
              <a:t>MAX и локальная Qwen с резервным разбором.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 wrap="square" lIns="36576" rIns="36576" tIns="18288" bIns="18288"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700" b="0">
                <a:solidFill>
                  <a:srgbClr val="1C1D22"/>
                </a:solidFill>
                <a:latin typeface="Montserrat"/>
              </a:rPr>
              <a:t>Для ИТ-компаний: меньше ручной проверки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700" b="0">
                <a:solidFill>
                  <a:srgbClr val="1C1D22"/>
                </a:solidFill>
                <a:latin typeface="Montserrat"/>
              </a:rPr>
              <a:t>самоописаний, понятные причины выдачи.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700" b="0">
                <a:solidFill>
                  <a:srgbClr val="1C1D22"/>
                </a:solidFill>
                <a:latin typeface="Montserrat"/>
              </a:rPr>
              <a:t>Для кандидата: доказательства навыков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700" b="0">
                <a:solidFill>
                  <a:srgbClr val="1C1D22"/>
                </a:solidFill>
                <a:latin typeface="Montserrat"/>
              </a:rPr>
              <a:t>и предложения вместо ожидания откликов.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700" b="0">
                <a:solidFill>
                  <a:srgbClr val="1C1D22"/>
                </a:solidFill>
                <a:latin typeface="Montserrat"/>
              </a:rPr>
              <a:t>Развитие: пилот с ФСП и работодателями,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700" b="0">
                <a:solidFill>
                  <a:srgbClr val="1C1D22"/>
                </a:solidFill>
                <a:latin typeface="Montserrat"/>
              </a:rPr>
              <a:t>калибровка тестов, реестр ФСП и ATS.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700" b="0">
                <a:solidFill>
                  <a:srgbClr val="1C1D22"/>
                </a:solidFill>
                <a:latin typeface="Montserrat"/>
              </a:rPr>
              <a:t>Монетизация – проверяемая гипотеза подписки.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</a:p>
          <a:p>
            <a:pPr>
              <a:lnSpc>
                <a:spcPct val="100000"/>
              </a:lnSpc>
            </a:pPr>
            <a:endParaRPr lang="ru-RU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3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EC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256032"/>
            <a:ext cx="11201400" cy="58521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800" b="1">
                <a:solidFill>
                  <a:srgbClr val="0A006B"/>
                </a:solidFill>
                <a:latin typeface="Montserrat"/>
              </a:rPr>
              <a:t>Работодатель приходит к подтверждённым навыкам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914400"/>
            <a:ext cx="109728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00" b="0">
                <a:solidFill>
                  <a:srgbClr val="565E73"/>
                </a:solidFill>
                <a:latin typeface="Montserrat"/>
              </a:rPr>
              <a:t>Сквозной путь двух ролей; вакансия не обязательна для приглашения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6455664"/>
            <a:ext cx="108813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0">
                <a:solidFill>
                  <a:srgbClr val="565E73"/>
                </a:solidFill>
                <a:latin typeface="Montserrat"/>
              </a:rPr>
              <a:t>unecon.tech  /  КОД.МЭТЧ  /  ЛЦТ 2026 · ФСП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19088"/>
            <a:ext cx="557784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>
                <a:solidFill>
                  <a:srgbClr val="0A006B"/>
                </a:solidFill>
                <a:latin typeface="Montserrat"/>
              </a:rPr>
              <a:t>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" y="1874519"/>
            <a:ext cx="2075688" cy="2980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2048256"/>
            <a:ext cx="1792224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3100" b="1">
                <a:solidFill>
                  <a:srgbClr val="402FFF"/>
                </a:solidFill>
                <a:latin typeface="Montserrat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2752344"/>
            <a:ext cx="1792224" cy="5760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1">
                <a:solidFill>
                  <a:srgbClr val="0A006B"/>
                </a:solidFill>
                <a:latin typeface="Montserrat"/>
              </a:rPr>
              <a:t>Регистрация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" y="3419856"/>
            <a:ext cx="1801368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500" b="0">
                <a:solidFill>
                  <a:srgbClr val="1C1D22"/>
                </a:solidFill>
                <a:latin typeface="Montserrat"/>
              </a:rPr>
              <a:t>Email подтверждён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500" b="0">
                <a:solidFill>
                  <a:srgbClr val="1C1D22"/>
                </a:solidFill>
                <a:latin typeface="Montserrat"/>
              </a:rPr>
              <a:t>Профиль заполнен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569464" y="2962656"/>
            <a:ext cx="164592" cy="210312"/>
          </a:xfrm>
          <a:prstGeom prst="rightArrow">
            <a:avLst/>
          </a:prstGeom>
          <a:solidFill>
            <a:srgbClr val="40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743200" y="1874519"/>
            <a:ext cx="2075688" cy="2980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71216" y="2048256"/>
            <a:ext cx="1792224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3100" b="1">
                <a:solidFill>
                  <a:srgbClr val="402FFF"/>
                </a:solidFill>
                <a:latin typeface="Montserrat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71216" y="2752344"/>
            <a:ext cx="1792224" cy="5760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1">
                <a:solidFill>
                  <a:srgbClr val="0A006B"/>
                </a:solidFill>
                <a:latin typeface="Montserrat"/>
              </a:rPr>
              <a:t>Категория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71216" y="3419856"/>
            <a:ext cx="1801368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500" b="0">
                <a:solidFill>
                  <a:srgbClr val="1C1D22"/>
                </a:solidFill>
                <a:latin typeface="Montserrat"/>
              </a:rPr>
              <a:t>Анкета и грейд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500" b="0">
                <a:solidFill>
                  <a:srgbClr val="1C1D22"/>
                </a:solidFill>
                <a:latin typeface="Montserrat"/>
              </a:rPr>
              <a:t>Практический тест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837176" y="2962656"/>
            <a:ext cx="164592" cy="210312"/>
          </a:xfrm>
          <a:prstGeom prst="rightArrow">
            <a:avLst/>
          </a:prstGeom>
          <a:solidFill>
            <a:srgbClr val="40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10912" y="1874519"/>
            <a:ext cx="2075688" cy="2980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38928" y="2048256"/>
            <a:ext cx="1792224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3100" b="1">
                <a:solidFill>
                  <a:srgbClr val="402FFF"/>
                </a:solidFill>
                <a:latin typeface="Montserrat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38928" y="2752344"/>
            <a:ext cx="1792224" cy="5760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1">
                <a:solidFill>
                  <a:srgbClr val="0A006B"/>
                </a:solidFill>
                <a:latin typeface="Montserrat"/>
              </a:rPr>
              <a:t>Потребность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38928" y="3419856"/>
            <a:ext cx="1801368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500" b="0">
                <a:solidFill>
                  <a:srgbClr val="1C1D22"/>
                </a:solidFill>
                <a:latin typeface="Montserrat"/>
              </a:rPr>
              <a:t>Навыки и условия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500" b="0">
                <a:solidFill>
                  <a:srgbClr val="1C1D22"/>
                </a:solidFill>
                <a:latin typeface="Montserrat"/>
              </a:rPr>
              <a:t>Зарплатная вилка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104888" y="2962656"/>
            <a:ext cx="164592" cy="210312"/>
          </a:xfrm>
          <a:prstGeom prst="rightArrow">
            <a:avLst/>
          </a:prstGeom>
          <a:solidFill>
            <a:srgbClr val="40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278623" y="1874519"/>
            <a:ext cx="2075688" cy="2980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640" y="2048256"/>
            <a:ext cx="1792224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3100" b="1">
                <a:solidFill>
                  <a:srgbClr val="402FFF"/>
                </a:solidFill>
                <a:latin typeface="Montserrat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2752344"/>
            <a:ext cx="1792224" cy="5760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1">
                <a:solidFill>
                  <a:srgbClr val="0A006B"/>
                </a:solidFill>
                <a:latin typeface="Montserrat"/>
              </a:rPr>
              <a:t>Подбор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3419856"/>
            <a:ext cx="1801368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500" b="0">
                <a:solidFill>
                  <a:srgbClr val="1C1D22"/>
                </a:solidFill>
                <a:latin typeface="Montserrat"/>
              </a:rPr>
              <a:t>Доказательства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500" b="0">
                <a:solidFill>
                  <a:srgbClr val="1C1D22"/>
                </a:solidFill>
                <a:latin typeface="Montserrat"/>
              </a:rPr>
              <a:t>Причины совпадения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372600" y="2962656"/>
            <a:ext cx="164592" cy="210312"/>
          </a:xfrm>
          <a:prstGeom prst="rightArrow">
            <a:avLst/>
          </a:prstGeom>
          <a:solidFill>
            <a:srgbClr val="40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546336" y="1874519"/>
            <a:ext cx="2075688" cy="2980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74352" y="2048256"/>
            <a:ext cx="1792224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3100" b="1">
                <a:solidFill>
                  <a:srgbClr val="402FFF"/>
                </a:solidFill>
                <a:latin typeface="Montserrat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4352" y="2752344"/>
            <a:ext cx="1792224" cy="5760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1">
                <a:solidFill>
                  <a:srgbClr val="0A006B"/>
                </a:solidFill>
                <a:latin typeface="Montserrat"/>
              </a:rPr>
              <a:t>Контакт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74352" y="3419856"/>
            <a:ext cx="1801368" cy="12252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500" b="0">
                <a:solidFill>
                  <a:srgbClr val="1C1D22"/>
                </a:solidFill>
                <a:latin typeface="Montserrat"/>
              </a:rPr>
              <a:t>Приглашение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500" b="0">
                <a:solidFill>
                  <a:srgbClr val="1C1D22"/>
                </a:solidFill>
                <a:latin typeface="Montserrat"/>
              </a:rPr>
              <a:t>Решение кандидата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5216" y="527608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900" b="1">
                <a:solidFill>
                  <a:srgbClr val="0A006B"/>
                </a:solidFill>
                <a:latin typeface="Montserrat"/>
              </a:rPr>
              <a:t>Классический путь тоже есть: публикация вакансии → собственный отклик кандидата → контакт.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3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EC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256032"/>
            <a:ext cx="11201400" cy="58521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800" b="1">
                <a:solidFill>
                  <a:srgbClr val="0A006B"/>
                </a:solidFill>
                <a:latin typeface="Montserrat"/>
              </a:rPr>
              <a:t>Подбор – прозрачный индекс правил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914400"/>
            <a:ext cx="109728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00" b="0">
                <a:solidFill>
                  <a:srgbClr val="565E73"/>
                </a:solidFill>
                <a:latin typeface="Montserrat"/>
              </a:rPr>
              <a:t>Подтверждённый грейд, несовместимые условия и неизвестные навыки проверяются до ранжирования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6455664"/>
            <a:ext cx="108813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0">
                <a:solidFill>
                  <a:srgbClr val="565E73"/>
                </a:solidFill>
                <a:latin typeface="Montserrat"/>
              </a:rPr>
              <a:t>unecon.tech  /  КОД.МЭТЧ  /  ЛЦТ 2026 · ФСП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19088"/>
            <a:ext cx="557784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>
                <a:solidFill>
                  <a:srgbClr val="0A006B"/>
                </a:solidFill>
                <a:latin typeface="Montserrat"/>
              </a:rPr>
              <a:t>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828800"/>
            <a:ext cx="265176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2029968"/>
            <a:ext cx="2276856" cy="7589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4450" b="1">
                <a:solidFill>
                  <a:srgbClr val="402FFF"/>
                </a:solidFill>
                <a:latin typeface="Montserrat"/>
              </a:rPr>
              <a:t>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3035808"/>
            <a:ext cx="2295144" cy="6949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1">
                <a:solidFill>
                  <a:srgbClr val="0A006B"/>
                </a:solidFill>
                <a:latin typeface="Montserrat"/>
              </a:rPr>
              <a:t>Обязательные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1">
                <a:solidFill>
                  <a:srgbClr val="0A006B"/>
                </a:solidFill>
                <a:latin typeface="Montserrat"/>
              </a:rPr>
              <a:t>навыки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1828800"/>
            <a:ext cx="265176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2736" y="2029968"/>
            <a:ext cx="2276856" cy="7589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4450" b="1">
                <a:solidFill>
                  <a:srgbClr val="0A006B"/>
                </a:solidFill>
                <a:latin typeface="Montserrat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2736" y="3035808"/>
            <a:ext cx="2295144" cy="6949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1">
                <a:solidFill>
                  <a:srgbClr val="0A006B"/>
                </a:solidFill>
                <a:latin typeface="Montserrat"/>
              </a:rPr>
              <a:t>Желательные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1">
                <a:solidFill>
                  <a:srgbClr val="0A006B"/>
                </a:solidFill>
                <a:latin typeface="Montserrat"/>
              </a:rPr>
              <a:t>навыки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1828800"/>
            <a:ext cx="265176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3096" y="2029968"/>
            <a:ext cx="2276856" cy="7589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4450" b="1">
                <a:solidFill>
                  <a:srgbClr val="402FFF"/>
                </a:solidFill>
                <a:latin typeface="Montserrat"/>
              </a:rPr>
              <a:t>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3096" y="3035808"/>
            <a:ext cx="2295144" cy="6949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1">
                <a:solidFill>
                  <a:srgbClr val="0A006B"/>
                </a:solidFill>
                <a:latin typeface="Montserrat"/>
              </a:rPr>
              <a:t>Качество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1">
                <a:solidFill>
                  <a:srgbClr val="0A006B"/>
                </a:solidFill>
                <a:latin typeface="Montserrat"/>
              </a:rPr>
              <a:t>теста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9719" y="1828800"/>
            <a:ext cx="265176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3455" y="2029968"/>
            <a:ext cx="2276856" cy="7589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4450" b="1">
                <a:solidFill>
                  <a:srgbClr val="EC1D35"/>
                </a:solidFill>
                <a:latin typeface="Montserrat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3455" y="3035808"/>
            <a:ext cx="2295144" cy="6949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1">
                <a:solidFill>
                  <a:srgbClr val="0A006B"/>
                </a:solidFill>
                <a:latin typeface="Montserrat"/>
              </a:rPr>
              <a:t>Достижения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1">
                <a:solidFill>
                  <a:srgbClr val="0A006B"/>
                </a:solidFill>
                <a:latin typeface="Montserrat"/>
              </a:rPr>
              <a:t>ФСП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" y="4507992"/>
            <a:ext cx="10972800" cy="6675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1">
                <a:solidFill>
                  <a:srgbClr val="0A006B"/>
                </a:solidFill>
                <a:latin typeface="Montserrat"/>
              </a:rPr>
              <a:t>60 × покрытие обязательных + 10 × покрытие желательных + 25 × балл/100 + бонус ФСП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" y="5294376"/>
            <a:ext cx="10972800" cy="6766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700" b="0">
                <a:solidFill>
                  <a:srgbClr val="565E73"/>
                </a:solidFill>
                <a:latin typeface="Montserrat"/>
              </a:rPr>
              <a:t>Нет истории ФСП – нет штрафа. Бонус не закрывает пробел навыков и не повышает грейд.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700" b="0">
                <a:solidFill>
                  <a:srgbClr val="565E73"/>
                </a:solidFill>
                <a:latin typeface="Montserrat"/>
              </a:rPr>
              <a:t>Индекс объясняет порядок выдачи; это не вероятность успешного найма.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3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EC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256032"/>
            <a:ext cx="11201400" cy="58521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800" b="1">
                <a:solidFill>
                  <a:srgbClr val="0A006B"/>
                </a:solidFill>
                <a:latin typeface="Montserrat"/>
              </a:rPr>
              <a:t>Варианты разные – сложность сопоставима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914400"/>
            <a:ext cx="109728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00" b="0">
                <a:solidFill>
                  <a:srgbClr val="565E73"/>
                </a:solidFill>
                <a:latin typeface="Montserrat"/>
              </a:rPr>
              <a:t>Python Backend, TypeScript Frontend, SQL × Junior / Middle = 6 категорий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6455664"/>
            <a:ext cx="108813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0">
                <a:solidFill>
                  <a:srgbClr val="565E73"/>
                </a:solidFill>
                <a:latin typeface="Montserrat"/>
              </a:rPr>
              <a:t>unecon.tech  /  КОД.МЭТЧ  /  ЛЦТ 2026 · ФСП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19088"/>
            <a:ext cx="557784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>
                <a:solidFill>
                  <a:srgbClr val="0A006B"/>
                </a:solidFill>
                <a:latin typeface="Montserrat"/>
              </a:rPr>
              <a:t>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1856231"/>
            <a:ext cx="3657600" cy="4014215"/>
          </a:xfrm>
          <a:prstGeom prst="roundRect">
            <a:avLst>
              <a:gd name="adj" fmla="val 12000"/>
            </a:avLst>
          </a:prstGeom>
          <a:solidFill>
            <a:srgbClr val="E3E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1792224"/>
            <a:ext cx="3657600" cy="401421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1792224"/>
            <a:ext cx="64008" cy="4014215"/>
          </a:xfrm>
          <a:prstGeom prst="rect">
            <a:avLst/>
          </a:prstGeom>
          <a:solidFill>
            <a:srgbClr val="40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" y="1975104"/>
            <a:ext cx="321868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200" b="1">
                <a:solidFill>
                  <a:srgbClr val="402FFF"/>
                </a:solidFill>
                <a:latin typeface="Montserrat"/>
              </a:rPr>
              <a:t>Один blueprint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2660904"/>
            <a:ext cx="3218688" cy="299923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0">
                <a:solidFill>
                  <a:srgbClr val="1C1D22"/>
                </a:solidFill>
                <a:latin typeface="Montserrat"/>
              </a:rPr>
              <a:t>5 заданий по 20 баллов.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0">
                <a:solidFill>
                  <a:srgbClr val="1C1D22"/>
                </a:solidFill>
                <a:latin typeface="Montserrat"/>
              </a:rPr>
              <a:t>Патч, трасса, выбор, SQL.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0">
                <a:solidFill>
                  <a:srgbClr val="1C1D22"/>
                </a:solidFill>
                <a:latin typeface="Montserrat"/>
              </a:rPr>
              <a:t>Те же компетенции и веса.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0">
                <a:solidFill>
                  <a:srgbClr val="1C1D22"/>
                </a:solidFill>
                <a:latin typeface="Montserrat"/>
              </a:rPr>
              <a:t>Seed меняет числа, события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0">
                <a:solidFill>
                  <a:srgbClr val="1C1D22"/>
                </a:solidFill>
                <a:latin typeface="Montserrat"/>
              </a:rPr>
              <a:t>и порядок вариантов.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0">
                <a:solidFill>
                  <a:srgbClr val="1C1D22"/>
                </a:solidFill>
                <a:latin typeface="Montserrat"/>
              </a:rPr>
              <a:t>45 минут на попытку.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5112" y="1856231"/>
            <a:ext cx="3621024" cy="4014215"/>
          </a:xfrm>
          <a:prstGeom prst="roundRect">
            <a:avLst>
              <a:gd name="adj" fmla="val 12000"/>
            </a:avLst>
          </a:prstGeom>
          <a:solidFill>
            <a:srgbClr val="E3E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297680" y="1792224"/>
            <a:ext cx="3621024" cy="401421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80" y="1792224"/>
            <a:ext cx="64008" cy="4014215"/>
          </a:xfrm>
          <a:prstGeom prst="rect">
            <a:avLst/>
          </a:prstGeom>
          <a:solidFill>
            <a:srgbClr val="0A0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17136" y="1975104"/>
            <a:ext cx="3182112" cy="6949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100" b="1">
                <a:solidFill>
                  <a:srgbClr val="0A006B"/>
                </a:solidFill>
                <a:latin typeface="Montserrat"/>
              </a:rPr>
              <a:t>Доверенный checker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7136" y="2843784"/>
            <a:ext cx="3182112" cy="281635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0">
                <a:solidFill>
                  <a:srgbClr val="1C1D22"/>
                </a:solidFill>
                <a:latin typeface="Montserrat"/>
              </a:rPr>
              <a:t>Эталоны – на сервере.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0">
                <a:solidFill>
                  <a:srgbClr val="1C1D22"/>
                </a:solidFill>
                <a:latin typeface="Montserrat"/>
              </a:rPr>
              <a:t>Python/TS пользователя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0">
                <a:solidFill>
                  <a:srgbClr val="1C1D22"/>
                </a:solidFill>
                <a:latin typeface="Montserrat"/>
              </a:rPr>
              <a:t>не исполняются.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0">
                <a:solidFill>
                  <a:srgbClr val="1C1D22"/>
                </a:solidFill>
                <a:latin typeface="Montserrat"/>
              </a:rPr>
              <a:t>SQL – read-only sandbox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0">
                <a:solidFill>
                  <a:srgbClr val="1C1D22"/>
                </a:solidFill>
                <a:latin typeface="Montserrat"/>
              </a:rPr>
              <a:t>в одноразовой SQLite.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0">
                <a:solidFill>
                  <a:srgbClr val="1C1D22"/>
                </a:solidFill>
                <a:latin typeface="Montserrat"/>
              </a:rPr>
              <a:t>90 дней до повтора.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74152" y="1856231"/>
            <a:ext cx="3621024" cy="4014215"/>
          </a:xfrm>
          <a:prstGeom prst="roundRect">
            <a:avLst>
              <a:gd name="adj" fmla="val 12000"/>
            </a:avLst>
          </a:prstGeom>
          <a:solidFill>
            <a:srgbClr val="E3E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46720" y="1792224"/>
            <a:ext cx="3621024" cy="401421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1792224"/>
            <a:ext cx="64008" cy="4014215"/>
          </a:xfrm>
          <a:prstGeom prst="rect">
            <a:avLst/>
          </a:prstGeom>
          <a:solidFill>
            <a:srgbClr val="EC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66176" y="1975104"/>
            <a:ext cx="3182112" cy="6949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000" b="1">
                <a:solidFill>
                  <a:srgbClr val="EC1D35"/>
                </a:solidFill>
                <a:latin typeface="Montserrat"/>
              </a:rPr>
              <a:t>Грейд по доказательству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6176" y="2843784"/>
            <a:ext cx="3182112" cy="281635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750" b="0">
                <a:solidFill>
                  <a:srgbClr val="1C1D22"/>
                </a:solidFill>
                <a:latin typeface="Montserrat"/>
              </a:rPr>
              <a:t>Junior ≥ 65/100.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750" b="0">
                <a:solidFill>
                  <a:srgbClr val="1C1D22"/>
                </a:solidFill>
                <a:latin typeface="Montserrat"/>
              </a:rPr>
              <a:t>Middle ≥ 75/100.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750" b="0">
                <a:solidFill>
                  <a:srgbClr val="1C1D22"/>
                </a:solidFill>
                <a:latin typeface="Montserrat"/>
              </a:rPr>
              <a:t>Каждая компетенция ≥ 50%.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750" b="0">
                <a:solidFill>
                  <a:srgbClr val="1C1D22"/>
                </a:solidFill>
                <a:latin typeface="Montserrat"/>
              </a:rPr>
              <a:t>Неудача Middle не выдаёт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750" b="0">
                <a:solidFill>
                  <a:srgbClr val="1C1D22"/>
                </a:solidFill>
                <a:latin typeface="Montserrat"/>
              </a:rPr>
              <a:t>Junior автоматически.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750" b="0">
                <a:solidFill>
                  <a:srgbClr val="1C1D22"/>
                </a:solidFill>
                <a:latin typeface="Montserrat"/>
              </a:rPr>
              <a:t>Ответы переживают reload.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3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EC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256032"/>
            <a:ext cx="11201400" cy="58521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800" b="1">
                <a:solidFill>
                  <a:srgbClr val="0A006B"/>
                </a:solidFill>
                <a:latin typeface="Montserrat"/>
              </a:rPr>
              <a:t>Тестирование: повторы и перенос ответов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914400"/>
            <a:ext cx="109728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00" b="0">
                <a:solidFill>
                  <a:srgbClr val="565E73"/>
                </a:solidFill>
                <a:latin typeface="Montserrat"/>
              </a:rPr>
              <a:t>Контролируемые синтетические паттерны; процедура разрешена официальным ответом ФСП B4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6455664"/>
            <a:ext cx="108813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0">
                <a:solidFill>
                  <a:srgbClr val="565E73"/>
                </a:solidFill>
                <a:latin typeface="Montserrat"/>
              </a:rPr>
              <a:t>unecon.tech  /  КОД.МЭТЧ  /  ЛЦТ 2026 · ФСП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19088"/>
            <a:ext cx="557784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>
                <a:solidFill>
                  <a:srgbClr val="0A006B"/>
                </a:solidFill>
                <a:latin typeface="Montserrat"/>
              </a:rPr>
              <a:t>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1856231"/>
            <a:ext cx="3630168" cy="2029968"/>
          </a:xfrm>
          <a:prstGeom prst="roundRect">
            <a:avLst>
              <a:gd name="adj" fmla="val 12000"/>
            </a:avLst>
          </a:prstGeom>
          <a:solidFill>
            <a:srgbClr val="E3E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1792224"/>
            <a:ext cx="3630168" cy="20299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1792224"/>
            <a:ext cx="64008" cy="2029968"/>
          </a:xfrm>
          <a:prstGeom prst="rect">
            <a:avLst/>
          </a:prstGeom>
          <a:solidFill>
            <a:srgbClr val="40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" y="1975104"/>
            <a:ext cx="3191256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200" b="1">
                <a:solidFill>
                  <a:srgbClr val="402FFF"/>
                </a:solidFill>
                <a:latin typeface="Montserrat"/>
              </a:rPr>
              <a:t>120 форм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2660904"/>
            <a:ext cx="3191256" cy="10149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0">
                <a:solidFill>
                  <a:srgbClr val="1C1D22"/>
                </a:solidFill>
                <a:latin typeface="Montserrat"/>
              </a:rPr>
              <a:t>20 вариантов × 6 категорий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5112" y="1856231"/>
            <a:ext cx="3630168" cy="2029968"/>
          </a:xfrm>
          <a:prstGeom prst="roundRect">
            <a:avLst>
              <a:gd name="adj" fmla="val 12000"/>
            </a:avLst>
          </a:prstGeom>
          <a:solidFill>
            <a:srgbClr val="E3E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297680" y="1792224"/>
            <a:ext cx="3630168" cy="20299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80" y="1792224"/>
            <a:ext cx="64008" cy="2029968"/>
          </a:xfrm>
          <a:prstGeom prst="rect">
            <a:avLst/>
          </a:prstGeom>
          <a:solidFill>
            <a:srgbClr val="0A0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17136" y="1975104"/>
            <a:ext cx="3191256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200" b="1">
                <a:solidFill>
                  <a:srgbClr val="0A006B"/>
                </a:solidFill>
                <a:latin typeface="Montserrat"/>
              </a:rPr>
              <a:t>720 оценок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7136" y="2660904"/>
            <a:ext cx="3191256" cy="10149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0">
                <a:solidFill>
                  <a:srgbClr val="1C1D22"/>
                </a:solidFill>
                <a:latin typeface="Montserrat"/>
              </a:rPr>
              <a:t>6 заданных паттернов ответа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10727" y="1856231"/>
            <a:ext cx="3602736" cy="2029968"/>
          </a:xfrm>
          <a:prstGeom prst="roundRect">
            <a:avLst>
              <a:gd name="adj" fmla="val 12000"/>
            </a:avLst>
          </a:prstGeom>
          <a:solidFill>
            <a:srgbClr val="E3E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83296" y="1792224"/>
            <a:ext cx="3602736" cy="20299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83296" y="1792224"/>
            <a:ext cx="64008" cy="2029968"/>
          </a:xfrm>
          <a:prstGeom prst="rect">
            <a:avLst/>
          </a:prstGeom>
          <a:solidFill>
            <a:srgbClr val="EC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02752" y="1975104"/>
            <a:ext cx="3163824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200" b="1">
                <a:solidFill>
                  <a:srgbClr val="EC1D35"/>
                </a:solidFill>
                <a:latin typeface="Montserrat"/>
              </a:rPr>
              <a:t>180 пар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2660904"/>
            <a:ext cx="3163824" cy="10149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0">
                <a:solidFill>
                  <a:srgbClr val="1C1D22"/>
                </a:solidFill>
                <a:latin typeface="Montserrat"/>
              </a:rPr>
              <a:t>Совпадение исхода: 180/180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" y="4215384"/>
            <a:ext cx="109270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50" b="1">
                <a:solidFill>
                  <a:srgbClr val="0A006B"/>
                </a:solidFill>
                <a:latin typeface="Montserrat"/>
              </a:rPr>
              <a:t>0 → 66,67 → 100 баллов: заданные слабый, пограничный и сильный паттерны разделяются.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" y="4946904"/>
            <a:ext cx="10927080" cy="8412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700" b="0">
                <a:solidFill>
                  <a:srgbClr val="565E73"/>
                </a:solidFill>
                <a:latin typeface="Montserrat"/>
              </a:rPr>
              <a:t>Дословный перенос: 0 успешных подтверждений из 114; прежний опыт 1/72 сохранён.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700" b="0">
                <a:solidFill>
                  <a:srgbClr val="565E73"/>
                </a:solidFill>
                <a:latin typeface="Montserrat"/>
              </a:rPr>
              <a:t>Это проверка вычислений и конкретных вариантов, а не независимая психометрика людей.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3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EC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256032"/>
            <a:ext cx="11201400" cy="58521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800" b="1">
                <a:solidFill>
                  <a:srgbClr val="0A006B"/>
                </a:solidFill>
                <a:latin typeface="Montserrat"/>
              </a:rPr>
              <a:t>Подбор: авторские метки и фиксированный holdout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914400"/>
            <a:ext cx="109728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00" b="0">
                <a:solidFill>
                  <a:srgbClr val="565E73"/>
                </a:solidFill>
                <a:latin typeface="Montserrat"/>
              </a:rPr>
              <a:t>40 профилей × 12 потребностей = 480 меток; 6 development / 6 holdout. Baseline самоописаний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6455664"/>
            <a:ext cx="108813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0">
                <a:solidFill>
                  <a:srgbClr val="565E73"/>
                </a:solidFill>
                <a:latin typeface="Montserrat"/>
              </a:rPr>
              <a:t>unecon.tech  /  КОД.МЭТЧ  /  ЛЦТ 2026 · ФСП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19088"/>
            <a:ext cx="557784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>
                <a:solidFill>
                  <a:srgbClr val="0A006B"/>
                </a:solidFill>
                <a:latin typeface="Montserrat"/>
              </a:rPr>
              <a:t>10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6384" y="4919472"/>
            <a:ext cx="6272784" cy="0"/>
          </a:xfrm>
          <a:prstGeom prst="line">
            <a:avLst/>
          </a:prstGeom>
          <a:ln w="12700">
            <a:solidFill>
              <a:srgbClr val="DBD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92608" y="4828032"/>
            <a:ext cx="411480" cy="2468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0">
                <a:solidFill>
                  <a:srgbClr val="565E73"/>
                </a:solidFill>
                <a:latin typeface="Montserrat"/>
              </a:rPr>
              <a:t>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6384" y="4176522"/>
            <a:ext cx="6272784" cy="0"/>
          </a:xfrm>
          <a:prstGeom prst="line">
            <a:avLst/>
          </a:prstGeom>
          <a:ln w="12700">
            <a:solidFill>
              <a:srgbClr val="DBD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92608" y="4085082"/>
            <a:ext cx="411480" cy="2468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0">
                <a:solidFill>
                  <a:srgbClr val="565E73"/>
                </a:solidFill>
                <a:latin typeface="Montserrat"/>
              </a:rPr>
              <a:t>0.25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86384" y="3433572"/>
            <a:ext cx="6272784" cy="0"/>
          </a:xfrm>
          <a:prstGeom prst="line">
            <a:avLst/>
          </a:prstGeom>
          <a:ln w="12700">
            <a:solidFill>
              <a:srgbClr val="DBD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92608" y="3342132"/>
            <a:ext cx="411480" cy="2468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0">
                <a:solidFill>
                  <a:srgbClr val="565E73"/>
                </a:solidFill>
                <a:latin typeface="Montserrat"/>
              </a:rPr>
              <a:t>0.5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86384" y="2690622"/>
            <a:ext cx="6272784" cy="0"/>
          </a:xfrm>
          <a:prstGeom prst="line">
            <a:avLst/>
          </a:prstGeom>
          <a:ln w="12700">
            <a:solidFill>
              <a:srgbClr val="DBD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92608" y="2599182"/>
            <a:ext cx="411480" cy="2468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0">
                <a:solidFill>
                  <a:srgbClr val="565E73"/>
                </a:solidFill>
                <a:latin typeface="Montserrat"/>
              </a:rPr>
              <a:t>0.75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6384" y="1947672"/>
            <a:ext cx="6272784" cy="0"/>
          </a:xfrm>
          <a:prstGeom prst="line">
            <a:avLst/>
          </a:prstGeom>
          <a:ln w="12700">
            <a:solidFill>
              <a:srgbClr val="DBD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92608" y="1856231"/>
            <a:ext cx="411480" cy="2468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0">
                <a:solidFill>
                  <a:srgbClr val="565E73"/>
                </a:solidFill>
                <a:latin typeface="Montserrat"/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45336" y="3928971"/>
            <a:ext cx="548640" cy="990500"/>
          </a:xfrm>
          <a:prstGeom prst="rect">
            <a:avLst/>
          </a:prstGeom>
          <a:solidFill>
            <a:srgbClr val="40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80744" y="3544923"/>
            <a:ext cx="868680" cy="2834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1">
                <a:solidFill>
                  <a:srgbClr val="0A006B"/>
                </a:solidFill>
                <a:latin typeface="Montserrat"/>
              </a:rPr>
              <a:t>0.3333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04288" y="4226151"/>
            <a:ext cx="548640" cy="693320"/>
          </a:xfrm>
          <a:prstGeom prst="rect">
            <a:avLst/>
          </a:prstGeom>
          <a:solidFill>
            <a:srgbClr val="A8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39696" y="3842103"/>
            <a:ext cx="868680" cy="2834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1">
                <a:solidFill>
                  <a:srgbClr val="0A006B"/>
                </a:solidFill>
                <a:latin typeface="Montserrat"/>
              </a:rPr>
              <a:t>0.2333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53895" y="5047488"/>
            <a:ext cx="154533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500" b="1">
                <a:solidFill>
                  <a:srgbClr val="0A006B"/>
                </a:solidFill>
                <a:latin typeface="Montserrat"/>
              </a:rPr>
              <a:t>P@5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71416" y="1947672"/>
            <a:ext cx="548640" cy="2971800"/>
          </a:xfrm>
          <a:prstGeom prst="rect">
            <a:avLst/>
          </a:prstGeom>
          <a:solidFill>
            <a:srgbClr val="40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06824" y="1563624"/>
            <a:ext cx="868680" cy="2834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1">
                <a:solidFill>
                  <a:srgbClr val="0A006B"/>
                </a:solidFill>
                <a:latin typeface="Montserrat"/>
              </a:rPr>
              <a:t>1.0000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30368" y="3791971"/>
            <a:ext cx="548640" cy="1127500"/>
          </a:xfrm>
          <a:prstGeom prst="rect">
            <a:avLst/>
          </a:prstGeom>
          <a:solidFill>
            <a:srgbClr val="A8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65776" y="3407923"/>
            <a:ext cx="868680" cy="2834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1">
                <a:solidFill>
                  <a:srgbClr val="0A006B"/>
                </a:solidFill>
                <a:latin typeface="Montserrat"/>
              </a:rPr>
              <a:t>0.3794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79976" y="5047488"/>
            <a:ext cx="154533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500" b="1">
                <a:solidFill>
                  <a:srgbClr val="0A006B"/>
                </a:solidFill>
                <a:latin typeface="Montserrat"/>
              </a:rPr>
              <a:t>nDCG@5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6112" y="5669280"/>
            <a:ext cx="192024" cy="192024"/>
          </a:xfrm>
          <a:prstGeom prst="rect">
            <a:avLst/>
          </a:prstGeom>
          <a:solidFill>
            <a:srgbClr val="40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52144" y="5623560"/>
            <a:ext cx="23317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300" b="1">
                <a:solidFill>
                  <a:srgbClr val="0A006B"/>
                </a:solidFill>
                <a:latin typeface="Montserrat"/>
              </a:rPr>
              <a:t>КОД.МЭТЧ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75887" y="5669280"/>
            <a:ext cx="192024" cy="192024"/>
          </a:xfrm>
          <a:prstGeom prst="rect">
            <a:avLst/>
          </a:prstGeom>
          <a:solidFill>
            <a:srgbClr val="A8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31920" y="5623560"/>
            <a:ext cx="29260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300" b="0">
                <a:solidFill>
                  <a:srgbClr val="565E73"/>
                </a:solidFill>
                <a:latin typeface="Montserrat"/>
              </a:rPr>
              <a:t>Baseline самоописаний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88936" y="1911095"/>
            <a:ext cx="4206240" cy="3557016"/>
          </a:xfrm>
          <a:prstGeom prst="roundRect">
            <a:avLst>
              <a:gd name="adj" fmla="val 12000"/>
            </a:avLst>
          </a:prstGeom>
          <a:solidFill>
            <a:srgbClr val="E3E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461504" y="1847088"/>
            <a:ext cx="4206240" cy="35570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461504" y="1847088"/>
            <a:ext cx="64008" cy="3557016"/>
          </a:xfrm>
          <a:prstGeom prst="rect">
            <a:avLst/>
          </a:prstGeom>
          <a:solidFill>
            <a:srgbClr val="EC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0" y="2029968"/>
            <a:ext cx="3767327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200" b="1">
                <a:solidFill>
                  <a:srgbClr val="EC1D35"/>
                </a:solidFill>
                <a:latin typeface="Montserrat"/>
              </a:rPr>
              <a:t>Что означает результат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0" y="2715768"/>
            <a:ext cx="3767327" cy="2542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00" b="0">
                <a:solidFill>
                  <a:srgbClr val="1C1D22"/>
                </a:solidFill>
                <a:latin typeface="Montserrat"/>
              </a:rPr>
              <a:t>P@5: все 6 holdout-запросов;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00" b="0">
                <a:solidFill>
                  <a:srgbClr val="1C1D22"/>
                </a:solidFill>
                <a:latin typeface="Montserrat"/>
              </a:rPr>
              <a:t>пустая позиция = 0.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00" b="0">
                <a:solidFill>
                  <a:srgbClr val="1C1D22"/>
                </a:solidFill>
                <a:latin typeface="Montserrat"/>
              </a:rPr>
              <a:t>nDCG: 5 запросов с positive gold.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00" b="0">
                <a:solidFill>
                  <a:srgbClr val="1C1D22"/>
                </a:solidFill>
                <a:latin typeface="Montserrat"/>
              </a:rPr>
              <a:t>Критические top-5 ошибки: 0.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00" b="0">
                <a:solidFill>
                  <a:srgbClr val="1C1D22"/>
                </a:solidFill>
                <a:latin typeface="Montserrat"/>
              </a:rPr>
              <a:t>Метки – авторские,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00" b="0">
                <a:solidFill>
                  <a:srgbClr val="1C1D22"/>
                </a:solidFill>
                <a:latin typeface="Montserrat"/>
              </a:rPr>
              <a:t>внешняя HR-оценка не заявлена.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6072" y="6071616"/>
            <a:ext cx="10972800" cy="2468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0">
                <a:solidFill>
                  <a:srgbClr val="565E73"/>
                </a:solidFill>
                <a:latin typeface="Montserrat"/>
              </a:rPr>
              <a:t>Небольшой синтетический набор: nDCG=1,0 не означает «100% качество найма». Полные знаменатели – в документации.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3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EC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256032"/>
            <a:ext cx="11201400" cy="58521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800" b="1">
                <a:solidFill>
                  <a:srgbClr val="0A006B"/>
                </a:solidFill>
                <a:latin typeface="Montserrat"/>
              </a:rPr>
              <a:t>Контакты открывает кандидат, а не модель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914400"/>
            <a:ext cx="109728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00" b="0">
                <a:solidFill>
                  <a:srgbClr val="565E73"/>
                </a:solidFill>
                <a:latin typeface="Montserrat"/>
              </a:rPr>
              <a:t>Один серверный контракт для карточки, API и PDF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6455664"/>
            <a:ext cx="108813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0">
                <a:solidFill>
                  <a:srgbClr val="565E73"/>
                </a:solidFill>
                <a:latin typeface="Montserrat"/>
              </a:rPr>
              <a:t>unecon.tech  /  КОД.МЭТЧ  /  ЛЦТ 2026 · ФСП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19088"/>
            <a:ext cx="557784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>
                <a:solidFill>
                  <a:srgbClr val="0A006B"/>
                </a:solidFill>
                <a:latin typeface="Montserrat"/>
              </a:rPr>
              <a:t>11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1984248"/>
            <a:ext cx="3593592" cy="3300984"/>
          </a:xfrm>
          <a:prstGeom prst="roundRect">
            <a:avLst>
              <a:gd name="adj" fmla="val 12000"/>
            </a:avLst>
          </a:prstGeom>
          <a:solidFill>
            <a:srgbClr val="E3E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1920240"/>
            <a:ext cx="3593592" cy="33009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1920240"/>
            <a:ext cx="64008" cy="3300984"/>
          </a:xfrm>
          <a:prstGeom prst="rect">
            <a:avLst/>
          </a:prstGeom>
          <a:solidFill>
            <a:srgbClr val="40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" y="2103120"/>
            <a:ext cx="315468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200" b="1">
                <a:solidFill>
                  <a:srgbClr val="402FFF"/>
                </a:solidFill>
                <a:latin typeface="Montserrat"/>
              </a:rPr>
              <a:t>До решения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2788920"/>
            <a:ext cx="3154680" cy="2286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0">
                <a:solidFill>
                  <a:srgbClr val="1C1D22"/>
                </a:solidFill>
                <a:latin typeface="Montserrat"/>
              </a:rPr>
              <a:t>Доказательства видны.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0">
                <a:solidFill>
                  <a:srgbClr val="1C1D22"/>
                </a:solidFill>
                <a:latin typeface="Montserrat"/>
              </a:rPr>
              <a:t>Контакты и ссылки закрыты.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0">
                <a:solidFill>
                  <a:srgbClr val="1C1D22"/>
                </a:solidFill>
                <a:latin typeface="Montserrat"/>
              </a:rPr>
              <a:t>Компания отправляет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0">
                <a:solidFill>
                  <a:srgbClr val="1C1D22"/>
                </a:solidFill>
                <a:latin typeface="Montserrat"/>
              </a:rPr>
              <a:t>условия и зарплатную вилку.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169663" y="3319272"/>
            <a:ext cx="347472" cy="283464"/>
          </a:xfrm>
          <a:prstGeom prst="rightArrow">
            <a:avLst/>
          </a:prstGeom>
          <a:solidFill>
            <a:srgbClr val="40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636008" y="1984248"/>
            <a:ext cx="3099816" cy="3300984"/>
          </a:xfrm>
          <a:prstGeom prst="roundRect">
            <a:avLst>
              <a:gd name="adj" fmla="val 12000"/>
            </a:avLst>
          </a:prstGeom>
          <a:solidFill>
            <a:srgbClr val="E3E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08576" y="1920240"/>
            <a:ext cx="3099816" cy="33009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08576" y="1920240"/>
            <a:ext cx="64008" cy="3300984"/>
          </a:xfrm>
          <a:prstGeom prst="rect">
            <a:avLst/>
          </a:prstGeom>
          <a:solidFill>
            <a:srgbClr val="0A0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28032" y="2103120"/>
            <a:ext cx="2660904" cy="6949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000" b="1">
                <a:solidFill>
                  <a:srgbClr val="0A006B"/>
                </a:solidFill>
                <a:latin typeface="Montserrat"/>
              </a:rPr>
              <a:t>Принятие / отклик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8032" y="2971800"/>
            <a:ext cx="2660904" cy="21031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50" b="0">
                <a:solidFill>
                  <a:srgbClr val="1C1D22"/>
                </a:solidFill>
                <a:latin typeface="Montserrat"/>
              </a:rPr>
              <a:t>Принять приглашение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50" b="0">
                <a:solidFill>
                  <a:srgbClr val="1C1D22"/>
                </a:solidFill>
                <a:latin typeface="Montserrat"/>
              </a:rPr>
              <a:t>или откликнуться самому.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50" b="0">
                <a:solidFill>
                  <a:srgbClr val="1C1D22"/>
                </a:solidFill>
                <a:latin typeface="Montserrat"/>
              </a:rPr>
              <a:t>Разрешение действует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50" b="0">
                <a:solidFill>
                  <a:srgbClr val="1C1D22"/>
                </a:solidFill>
                <a:latin typeface="Montserrat"/>
              </a:rPr>
              <a:t>для конкретной компании.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808975" y="3319272"/>
            <a:ext cx="347472" cy="283464"/>
          </a:xfrm>
          <a:prstGeom prst="rightArrow">
            <a:avLst/>
          </a:prstGeom>
          <a:solidFill>
            <a:srgbClr val="40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84463" y="1984248"/>
            <a:ext cx="3401568" cy="3300984"/>
          </a:xfrm>
          <a:prstGeom prst="roundRect">
            <a:avLst>
              <a:gd name="adj" fmla="val 12000"/>
            </a:avLst>
          </a:prstGeom>
          <a:solidFill>
            <a:srgbClr val="E3E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57031" y="1920240"/>
            <a:ext cx="3401568" cy="33009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57031" y="1920240"/>
            <a:ext cx="64008" cy="3300984"/>
          </a:xfrm>
          <a:prstGeom prst="rect">
            <a:avLst/>
          </a:prstGeom>
          <a:solidFill>
            <a:srgbClr val="EC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2103120"/>
            <a:ext cx="2962656" cy="6949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100" b="1">
                <a:solidFill>
                  <a:srgbClr val="EC1D35"/>
                </a:solidFill>
                <a:latin typeface="Montserrat"/>
              </a:rPr>
              <a:t>Отзыв разрешения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2971800"/>
            <a:ext cx="2962656" cy="21031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0">
                <a:solidFill>
                  <a:srgbClr val="1C1D22"/>
                </a:solidFill>
                <a:latin typeface="Montserrat"/>
              </a:rPr>
              <a:t>Новые запросы API, UI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0">
                <a:solidFill>
                  <a:srgbClr val="1C1D22"/>
                </a:solidFill>
                <a:latin typeface="Montserrat"/>
              </a:rPr>
              <a:t>и PDF снова закрыты.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0">
                <a:solidFill>
                  <a:srgbClr val="1C1D22"/>
                </a:solidFill>
                <a:latin typeface="Montserrat"/>
              </a:rPr>
              <a:t>Уже скачанный PDF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0">
                <a:solidFill>
                  <a:srgbClr val="1C1D22"/>
                </a:solidFill>
                <a:latin typeface="Montserrat"/>
              </a:rPr>
              <a:t>из устройства компании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0">
                <a:solidFill>
                  <a:srgbClr val="1C1D22"/>
                </a:solidFill>
                <a:latin typeface="Montserrat"/>
              </a:rPr>
              <a:t>удалить нельзя.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5715000"/>
            <a:ext cx="10945368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1">
                <a:solidFill>
                  <a:srgbClr val="0A006B"/>
                </a:solidFill>
                <a:latin typeface="Montserrat"/>
              </a:rPr>
              <a:t>ФИО и опыт могут быть видны; согласие управляет именно контактами. Это проверено на реальных аккаунтах.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3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EC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256032"/>
            <a:ext cx="11201400" cy="58521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800" b="1">
                <a:solidFill>
                  <a:srgbClr val="0A006B"/>
                </a:solidFill>
                <a:latin typeface="Montserrat"/>
              </a:rPr>
              <a:t>Рабочий продукт: экраны и проверенные сценарии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914400"/>
            <a:ext cx="109728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00" b="0">
                <a:solidFill>
                  <a:srgbClr val="565E73"/>
                </a:solidFill>
                <a:latin typeface="Montserrat"/>
              </a:rPr>
              <a:t>Работодатель: 11.10.2026; кандидат: 07–08.10.2026. Настоящие подтверждённые аккаунты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6455664"/>
            <a:ext cx="108813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0">
                <a:solidFill>
                  <a:srgbClr val="565E73"/>
                </a:solidFill>
                <a:latin typeface="Montserrat"/>
              </a:rPr>
              <a:t>unecon.tech  /  КОД.МЭТЧ  /  ЛЦТ 2026 · ФСП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19088"/>
            <a:ext cx="557784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>
                <a:solidFill>
                  <a:srgbClr val="0A006B"/>
                </a:solidFill>
                <a:latin typeface="Montserrat"/>
              </a:rPr>
              <a:t>12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728216"/>
            <a:ext cx="8001000" cy="4398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D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employer-live-20261011.jpg"/>
          <p:cNvPicPr>
            <a:picLocks noChangeAspect="1"/>
          </p:cNvPicPr>
          <p:nvPr/>
        </p:nvPicPr>
        <p:blipFill>
          <a:blip r:embed="rId2"/>
          <a:srcRect b="41647"/>
          <a:stretch>
            <a:fillRect/>
          </a:stretch>
        </p:blipFill>
        <p:spPr>
          <a:xfrm>
            <a:off x="621792" y="1837943"/>
            <a:ext cx="7763256" cy="4151376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723376" y="1728216"/>
            <a:ext cx="2971800" cy="4398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D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andidate-mobile-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010" y="1874519"/>
            <a:ext cx="1904530" cy="412394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3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EC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256032"/>
            <a:ext cx="11201400" cy="58521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800" b="1">
                <a:solidFill>
                  <a:srgbClr val="0A006B"/>
                </a:solidFill>
                <a:latin typeface="Montserrat"/>
              </a:rPr>
              <a:t>MAX: тот же кабинет, те же доказательства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914400"/>
            <a:ext cx="109728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00" b="0">
                <a:solidFill>
                  <a:srgbClr val="565E73"/>
                </a:solidFill>
                <a:latin typeface="Montserrat"/>
              </a:rPr>
              <a:t>Уведомление → подписанное мини-приложение → решение в своём аккаунте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6455664"/>
            <a:ext cx="108813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0">
                <a:solidFill>
                  <a:srgbClr val="565E73"/>
                </a:solidFill>
                <a:latin typeface="Montserrat"/>
              </a:rPr>
              <a:t>unecon.tech  /  КОД.МЭТЧ  /  ЛЦТ 2026 · ФСП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19088"/>
            <a:ext cx="557784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>
                <a:solidFill>
                  <a:srgbClr val="0A006B"/>
                </a:solidFill>
                <a:latin typeface="Montserrat"/>
              </a:rPr>
              <a:t>13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1755648"/>
            <a:ext cx="3246120" cy="4507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D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max-mini-app-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645" y="1874519"/>
            <a:ext cx="2583837" cy="421538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251960" y="1865376"/>
            <a:ext cx="7434072" cy="2011680"/>
          </a:xfrm>
          <a:prstGeom prst="roundRect">
            <a:avLst>
              <a:gd name="adj" fmla="val 12000"/>
            </a:avLst>
          </a:prstGeom>
          <a:solidFill>
            <a:srgbClr val="E3E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24528" y="1801368"/>
            <a:ext cx="7434072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24528" y="1801368"/>
            <a:ext cx="64008" cy="2011680"/>
          </a:xfrm>
          <a:prstGeom prst="rect">
            <a:avLst/>
          </a:prstGeom>
          <a:solidFill>
            <a:srgbClr val="40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43984" y="1984248"/>
            <a:ext cx="699516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200" b="1">
                <a:solidFill>
                  <a:srgbClr val="402FFF"/>
                </a:solidFill>
                <a:latin typeface="Montserrat"/>
              </a:rPr>
              <a:t>Работает в реальном MAX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2670048"/>
            <a:ext cx="6995160" cy="9966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700" b="0">
                <a:solidFill>
                  <a:srgbClr val="1C1D22"/>
                </a:solidFill>
                <a:latin typeface="Montserrat"/>
              </a:rPr>
              <a:t>/status, /help; одноразовая привязка и отзыв.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700" b="0">
                <a:solidFill>
                  <a:srgbClr val="1C1D22"/>
                </a:solidFill>
                <a:latin typeface="Montserrat"/>
              </a:rPr>
              <a:t>Две привязки MAX подтверждены.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700" b="0">
                <a:solidFill>
                  <a:srgbClr val="1C1D22"/>
                </a:solidFill>
                <a:latin typeface="Montserrat"/>
              </a:rPr>
              <a:t>Приглашение и короткое задание получены.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4087368"/>
            <a:ext cx="7434072" cy="2011680"/>
          </a:xfrm>
          <a:prstGeom prst="roundRect">
            <a:avLst>
              <a:gd name="adj" fmla="val 12000"/>
            </a:avLst>
          </a:prstGeom>
          <a:solidFill>
            <a:srgbClr val="E3E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224528" y="4023360"/>
            <a:ext cx="7434072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24528" y="4023360"/>
            <a:ext cx="64008" cy="2011680"/>
          </a:xfrm>
          <a:prstGeom prst="rect">
            <a:avLst/>
          </a:prstGeom>
          <a:solidFill>
            <a:srgbClr val="EC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43984" y="4206240"/>
            <a:ext cx="699516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200" b="1">
                <a:solidFill>
                  <a:srgbClr val="EC1D35"/>
                </a:solidFill>
                <a:latin typeface="Montserrat"/>
              </a:rPr>
              <a:t>Одна логика на сайте и в MAX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3984" y="4892040"/>
            <a:ext cx="6995160" cy="9966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0">
                <a:solidFill>
                  <a:srgbClr val="1C1D22"/>
                </a:solidFill>
                <a:latin typeface="Montserrat"/>
              </a:rPr>
              <a:t>Подписанный запуск открывает правильную роль.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0">
                <a:solidFill>
                  <a:srgbClr val="1C1D22"/>
                </a:solidFill>
                <a:latin typeface="Montserrat"/>
              </a:rPr>
              <a:t>Изменения остаются в общем аккаунте; контакты по согласию.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3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EC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256032"/>
            <a:ext cx="11201400" cy="58521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800" b="1">
                <a:solidFill>
                  <a:srgbClr val="0A006B"/>
                </a:solidFill>
                <a:latin typeface="Montserrat"/>
              </a:rPr>
              <a:t>Архитектура: критические решения по правилам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914400"/>
            <a:ext cx="109728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00" b="0">
                <a:solidFill>
                  <a:srgbClr val="565E73"/>
                </a:solidFill>
                <a:latin typeface="Montserrat"/>
              </a:rPr>
              <a:t>Локальная Qwen помогает с текстом; грейд, порядок и контакты задаёт сервер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6455664"/>
            <a:ext cx="108813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0">
                <a:solidFill>
                  <a:srgbClr val="565E73"/>
                </a:solidFill>
                <a:latin typeface="Montserrat"/>
              </a:rPr>
              <a:t>unecon.tech  /  КОД.МЭТЧ  /  ЛЦТ 2026 · ФСП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19088"/>
            <a:ext cx="557784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>
                <a:solidFill>
                  <a:srgbClr val="0A006B"/>
                </a:solidFill>
                <a:latin typeface="Montserrat"/>
              </a:rPr>
              <a:t>14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" y="1920239"/>
            <a:ext cx="2386584" cy="2084831"/>
          </a:xfrm>
          <a:prstGeom prst="roundRect">
            <a:avLst>
              <a:gd name="adj" fmla="val 12000"/>
            </a:avLst>
          </a:prstGeom>
          <a:solidFill>
            <a:srgbClr val="E3E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1856231"/>
            <a:ext cx="2386584" cy="208483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1856231"/>
            <a:ext cx="64008" cy="2084831"/>
          </a:xfrm>
          <a:prstGeom prst="rect">
            <a:avLst/>
          </a:prstGeom>
          <a:solidFill>
            <a:srgbClr val="40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039112"/>
            <a:ext cx="1947672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200" b="1">
                <a:solidFill>
                  <a:srgbClr val="402FFF"/>
                </a:solidFill>
                <a:latin typeface="Montserrat"/>
              </a:rPr>
              <a:t>React + MAX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2724911"/>
            <a:ext cx="1947672" cy="10698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700" b="0">
                <a:solidFill>
                  <a:srgbClr val="1C1D22"/>
                </a:solidFill>
                <a:latin typeface="Montserrat"/>
              </a:rPr>
              <a:t>Два кабинета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700" b="0">
                <a:solidFill>
                  <a:srgbClr val="1C1D22"/>
                </a:solidFill>
                <a:latin typeface="Montserrat"/>
              </a:rPr>
              <a:t>адаптивный UI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93008" y="1920239"/>
            <a:ext cx="3127248" cy="2084831"/>
          </a:xfrm>
          <a:prstGeom prst="roundRect">
            <a:avLst>
              <a:gd name="adj" fmla="val 12000"/>
            </a:avLst>
          </a:prstGeom>
          <a:solidFill>
            <a:srgbClr val="E3E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65576" y="1856231"/>
            <a:ext cx="3127248" cy="208483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65576" y="1856231"/>
            <a:ext cx="64008" cy="2084831"/>
          </a:xfrm>
          <a:prstGeom prst="rect">
            <a:avLst/>
          </a:prstGeom>
          <a:solidFill>
            <a:srgbClr val="40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85032" y="2039112"/>
            <a:ext cx="2688336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200" b="1">
                <a:solidFill>
                  <a:srgbClr val="402FFF"/>
                </a:solidFill>
                <a:latin typeface="Montserrat"/>
              </a:rPr>
              <a:t>FastAPI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85032" y="2724911"/>
            <a:ext cx="2688336" cy="10698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700" b="0">
                <a:solidFill>
                  <a:srgbClr val="1C1D22"/>
                </a:solidFill>
                <a:latin typeface="Montserrat"/>
              </a:rPr>
              <a:t>Auth · Tests · Matching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700" b="0">
                <a:solidFill>
                  <a:srgbClr val="1C1D22"/>
                </a:solidFill>
                <a:latin typeface="Montserrat"/>
              </a:rPr>
              <a:t>Contact grants · PDF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96328" y="1920239"/>
            <a:ext cx="4498848" cy="2084831"/>
          </a:xfrm>
          <a:prstGeom prst="roundRect">
            <a:avLst>
              <a:gd name="adj" fmla="val 12000"/>
            </a:avLst>
          </a:prstGeom>
          <a:solidFill>
            <a:srgbClr val="E3E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68896" y="1856231"/>
            <a:ext cx="4498848" cy="208483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68896" y="1856231"/>
            <a:ext cx="64008" cy="2084831"/>
          </a:xfrm>
          <a:prstGeom prst="rect">
            <a:avLst/>
          </a:prstGeom>
          <a:solidFill>
            <a:srgbClr val="0A0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88352" y="2039112"/>
            <a:ext cx="4059935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200" b="1">
                <a:solidFill>
                  <a:srgbClr val="0A006B"/>
                </a:solidFill>
                <a:latin typeface="Montserrat"/>
              </a:rPr>
              <a:t>PostgreSQL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88352" y="2724911"/>
            <a:ext cx="4059935" cy="10698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700" b="0">
                <a:solidFill>
                  <a:srgbClr val="1C1D22"/>
                </a:solidFill>
                <a:latin typeface="Montserrat"/>
              </a:rPr>
              <a:t>Профили, попытки, история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700" b="0">
                <a:solidFill>
                  <a:srgbClr val="1C1D22"/>
                </a:solidFill>
                <a:latin typeface="Montserrat"/>
              </a:rPr>
              <a:t>и outbox доставки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3008376" y="2688336"/>
            <a:ext cx="310896" cy="265176"/>
          </a:xfrm>
          <a:prstGeom prst="rightArrow">
            <a:avLst/>
          </a:prstGeom>
          <a:solidFill>
            <a:srgbClr val="40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ight Arrow 28"/>
          <p:cNvSpPr/>
          <p:nvPr/>
        </p:nvSpPr>
        <p:spPr>
          <a:xfrm>
            <a:off x="6729984" y="2688336"/>
            <a:ext cx="310896" cy="265176"/>
          </a:xfrm>
          <a:prstGeom prst="rightArrow">
            <a:avLst/>
          </a:prstGeom>
          <a:solidFill>
            <a:srgbClr val="40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76072" y="4334256"/>
            <a:ext cx="4965192" cy="1801368"/>
          </a:xfrm>
          <a:prstGeom prst="roundRect">
            <a:avLst>
              <a:gd name="adj" fmla="val 12000"/>
            </a:avLst>
          </a:prstGeom>
          <a:solidFill>
            <a:srgbClr val="E3E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8640" y="4270248"/>
            <a:ext cx="4965192" cy="1801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4270248"/>
            <a:ext cx="64008" cy="1801368"/>
          </a:xfrm>
          <a:prstGeom prst="rect">
            <a:avLst/>
          </a:prstGeom>
          <a:solidFill>
            <a:srgbClr val="0A0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" y="4453128"/>
            <a:ext cx="4526279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200" b="1">
                <a:solidFill>
                  <a:srgbClr val="0A006B"/>
                </a:solidFill>
                <a:latin typeface="Montserrat"/>
              </a:rPr>
              <a:t>Ollama / Qwen3 4B Q4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" y="5138928"/>
            <a:ext cx="4526279" cy="7863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500" b="0">
                <a:solidFill>
                  <a:srgbClr val="1C1D22"/>
                </a:solidFill>
                <a:latin typeface="Montserrat"/>
              </a:rPr>
              <a:t>8 CPU / 8 ГиБ · context 8192.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500" b="0">
                <a:solidFill>
                  <a:srgbClr val="1C1D22"/>
                </a:solidFill>
                <a:latin typeface="Montserrat"/>
              </a:rPr>
              <a:t>Разбор потребности и пояснения.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779008" y="4334256"/>
            <a:ext cx="5925312" cy="1801368"/>
          </a:xfrm>
          <a:prstGeom prst="roundRect">
            <a:avLst>
              <a:gd name="adj" fmla="val 12000"/>
            </a:avLst>
          </a:prstGeom>
          <a:solidFill>
            <a:srgbClr val="E3E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751576" y="4270248"/>
            <a:ext cx="5925312" cy="1801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51576" y="4270248"/>
            <a:ext cx="64008" cy="1801368"/>
          </a:xfrm>
          <a:prstGeom prst="rect">
            <a:avLst/>
          </a:prstGeom>
          <a:solidFill>
            <a:srgbClr val="EC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71032" y="4453128"/>
            <a:ext cx="54864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200" b="1">
                <a:solidFill>
                  <a:srgbClr val="EC1D35"/>
                </a:solidFill>
                <a:latin typeface="Montserrat"/>
              </a:rPr>
              <a:t>Worker и резервный путь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71032" y="5138928"/>
            <a:ext cx="5486400" cy="7863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500" b="0">
                <a:solidFill>
                  <a:srgbClr val="1C1D22"/>
                </a:solidFill>
                <a:latin typeface="Montserrat"/>
              </a:rPr>
              <a:t>Email / MAX через outbox; timeout → правила.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500" b="0">
                <a:solidFill>
                  <a:srgbClr val="1C1D22"/>
                </a:solidFill>
                <a:latin typeface="Montserrat"/>
              </a:rPr>
              <a:t>Резюме без передачи ПДн в LLM.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3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EC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256032"/>
            <a:ext cx="11201400" cy="58521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800" b="1">
                <a:solidFill>
                  <a:srgbClr val="0A006B"/>
                </a:solidFill>
                <a:latin typeface="Montserrat"/>
              </a:rPr>
              <a:t>Развитие от MVP к кадровому контуру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914400"/>
            <a:ext cx="109728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00" b="0">
                <a:solidFill>
                  <a:srgbClr val="565E73"/>
                </a:solidFill>
                <a:latin typeface="Montserrat"/>
              </a:rPr>
              <a:t>Следующие этапы – гипотезы и интеграционные работы, а не уже подключённые внешние системы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6455664"/>
            <a:ext cx="108813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0">
                <a:solidFill>
                  <a:srgbClr val="565E73"/>
                </a:solidFill>
                <a:latin typeface="Montserrat"/>
              </a:rPr>
              <a:t>unecon.tech  /  КОД.МЭТЧ  /  ЛЦТ 2026 · ФСП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19088"/>
            <a:ext cx="557784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>
                <a:solidFill>
                  <a:srgbClr val="0A006B"/>
                </a:solidFill>
                <a:latin typeface="Montserrat"/>
              </a:rPr>
              <a:t>15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" y="1892807"/>
            <a:ext cx="3639312" cy="3575304"/>
          </a:xfrm>
          <a:prstGeom prst="roundRect">
            <a:avLst>
              <a:gd name="adj" fmla="val 12000"/>
            </a:avLst>
          </a:prstGeom>
          <a:solidFill>
            <a:srgbClr val="E3E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30352" y="1828800"/>
            <a:ext cx="3639312" cy="35753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0352" y="1828800"/>
            <a:ext cx="64008" cy="3575304"/>
          </a:xfrm>
          <a:prstGeom prst="rect">
            <a:avLst/>
          </a:prstGeom>
          <a:solidFill>
            <a:srgbClr val="40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011680"/>
            <a:ext cx="32004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200" b="1">
                <a:solidFill>
                  <a:srgbClr val="402FFF"/>
                </a:solidFill>
                <a:latin typeface="Montserrat"/>
              </a:rPr>
              <a:t>01 · Калибровка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697480"/>
            <a:ext cx="3200400" cy="2560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50" b="0">
                <a:solidFill>
                  <a:srgbClr val="1C1D22"/>
                </a:solidFill>
                <a:latin typeface="Montserrat"/>
              </a:rPr>
              <a:t>Пилот с кандидатами и HR.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50" b="0">
                <a:solidFill>
                  <a:srgbClr val="1C1D22"/>
                </a:solidFill>
                <a:latin typeface="Montserrat"/>
              </a:rPr>
              <a:t>Независимая оценка заданий.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50" b="0">
                <a:solidFill>
                  <a:srgbClr val="1C1D22"/>
                </a:solidFill>
                <a:latin typeface="Montserrat"/>
              </a:rPr>
              <a:t>Больше семейств и навыков.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50" b="0">
                <a:solidFill>
                  <a:srgbClr val="1C1D22"/>
                </a:solidFill>
                <a:latin typeface="Montserrat"/>
              </a:rPr>
              <a:t>Проверка помощи LLM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50" b="0">
                <a:solidFill>
                  <a:srgbClr val="1C1D22"/>
                </a:solidFill>
                <a:latin typeface="Montserrat"/>
              </a:rPr>
              <a:t>и семантического переноса.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1892807"/>
            <a:ext cx="3639312" cy="3575304"/>
          </a:xfrm>
          <a:prstGeom prst="roundRect">
            <a:avLst>
              <a:gd name="adj" fmla="val 12000"/>
            </a:avLst>
          </a:prstGeom>
          <a:solidFill>
            <a:srgbClr val="E3E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15968" y="1828800"/>
            <a:ext cx="3639312" cy="35753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15968" y="1828800"/>
            <a:ext cx="64008" cy="3575304"/>
          </a:xfrm>
          <a:prstGeom prst="rect">
            <a:avLst/>
          </a:prstGeom>
          <a:solidFill>
            <a:srgbClr val="0A0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35424" y="2011680"/>
            <a:ext cx="32004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200" b="1">
                <a:solidFill>
                  <a:srgbClr val="0A006B"/>
                </a:solidFill>
                <a:latin typeface="Montserrat"/>
              </a:rPr>
              <a:t>02 · Реестр ФСП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5424" y="2697480"/>
            <a:ext cx="3200400" cy="2560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50" b="0">
                <a:solidFill>
                  <a:srgbClr val="1C1D22"/>
                </a:solidFill>
                <a:latin typeface="Montserrat"/>
              </a:rPr>
              <a:t>Adapter уже отделён.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50" b="0">
                <a:solidFill>
                  <a:srgbClr val="1C1D22"/>
                </a:solidFill>
                <a:latin typeface="Montserrat"/>
              </a:rPr>
              <a:t>Реестр – демонстрационный.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50" b="0">
                <a:solidFill>
                  <a:srgbClr val="1C1D22"/>
                </a:solidFill>
                <a:latin typeface="Montserrat"/>
              </a:rPr>
              <a:t>После получения доступа: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50" b="0">
                <a:solidFill>
                  <a:srgbClr val="1C1D22"/>
                </a:solidFill>
                <a:latin typeface="Montserrat"/>
              </a:rPr>
              <a:t>ID, история и происхождение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50" b="0">
                <a:solidFill>
                  <a:srgbClr val="1C1D22"/>
                </a:solidFill>
                <a:latin typeface="Montserrat"/>
              </a:rPr>
              <a:t>доказательств, обновления.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29015" y="1892807"/>
            <a:ext cx="3566160" cy="3575304"/>
          </a:xfrm>
          <a:prstGeom prst="roundRect">
            <a:avLst>
              <a:gd name="adj" fmla="val 12000"/>
            </a:avLst>
          </a:prstGeom>
          <a:solidFill>
            <a:srgbClr val="E3E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01583" y="1828800"/>
            <a:ext cx="3566160" cy="35753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1583" y="1828800"/>
            <a:ext cx="64008" cy="3575304"/>
          </a:xfrm>
          <a:prstGeom prst="rect">
            <a:avLst/>
          </a:prstGeom>
          <a:solidFill>
            <a:srgbClr val="EC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2011680"/>
            <a:ext cx="3127248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200" b="1">
                <a:solidFill>
                  <a:srgbClr val="EC1D35"/>
                </a:solidFill>
                <a:latin typeface="Montserrat"/>
              </a:rPr>
              <a:t>03 · Работодатели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697480"/>
            <a:ext cx="3127248" cy="2560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50" b="0">
                <a:solidFill>
                  <a:srgbClr val="1C1D22"/>
                </a:solidFill>
                <a:latin typeface="Montserrat"/>
              </a:rPr>
              <a:t>Пилот обратного подбора.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50" b="0">
                <a:solidFill>
                  <a:srgbClr val="1C1D22"/>
                </a:solidFill>
                <a:latin typeface="Montserrat"/>
              </a:rPr>
              <a:t>ATS: статусы и идемпотентность.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50" b="0">
                <a:solidFill>
                  <a:srgbClr val="1C1D22"/>
                </a:solidFill>
                <a:latin typeface="Montserrat"/>
              </a:rPr>
              <a:t>Защита от фиктивных вакансий.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50" b="0">
                <a:solidFill>
                  <a:srgbClr val="1C1D22"/>
                </a:solidFill>
                <a:latin typeface="Montserrat"/>
              </a:rPr>
              <a:t>Проверка гипотезы подписки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50" b="0">
                <a:solidFill>
                  <a:srgbClr val="1C1D22"/>
                </a:solidFill>
                <a:latin typeface="Montserrat"/>
              </a:rPr>
              <a:t>и стоимости найма.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705856"/>
            <a:ext cx="10981944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700" b="1">
                <a:solidFill>
                  <a:srgbClr val="0A006B"/>
                </a:solidFill>
                <a:latin typeface="Montserrat"/>
              </a:rPr>
              <a:t>186 backend + 12 frontend локально · 3/3 PostgreSQL на сервере · Restore PASS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A0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999" cy="82296"/>
          </a:xfrm>
          <a:prstGeom prst="rect">
            <a:avLst/>
          </a:prstGeom>
          <a:solidFill>
            <a:srgbClr val="EC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256032"/>
            <a:ext cx="11201400" cy="58521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800" b="1">
                <a:solidFill>
                  <a:srgbClr val="FFFFFF"/>
                </a:solidFill>
                <a:latin typeface="Montserrat"/>
              </a:rPr>
              <a:t>КОД.МЭТЧ: попробуйте сквозной сценарий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914400"/>
            <a:ext cx="1097280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600" b="0">
                <a:solidFill>
                  <a:srgbClr val="DDDDF3"/>
                </a:solidFill>
                <a:latin typeface="Montserrat"/>
              </a:rPr>
              <a:t>Навыки. Доказательства. Совпадение.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6455664"/>
            <a:ext cx="108813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0">
                <a:solidFill>
                  <a:srgbClr val="C1C2D9"/>
                </a:solidFill>
                <a:latin typeface="Montserrat"/>
              </a:rPr>
              <a:t>unecon.tech  /  КОД.МЭТЧ  /  ЛЦТ 2026 · ФСП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19088"/>
            <a:ext cx="557784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>
                <a:solidFill>
                  <a:srgbClr val="FFFFFF"/>
                </a:solidFill>
                <a:latin typeface="Montserrat"/>
              </a:rPr>
              <a:t>16</a:t>
            </a:r>
          </a:p>
        </p:txBody>
      </p:sp>
      <p:pic>
        <p:nvPicPr>
          <p:cNvPr id="13" name="Picture 12" descr="kodmatch-mark-symmetric-v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819656"/>
            <a:ext cx="3227832" cy="32278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" y="1920240"/>
            <a:ext cx="7616952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200" b="1">
                <a:solidFill>
                  <a:srgbClr val="FFFFFF"/>
                </a:solidFill>
                <a:latin typeface="Montserrat"/>
              </a:rPr>
              <a:t>Стенд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633472"/>
            <a:ext cx="7543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500" b="1">
                <a:solidFill>
                  <a:srgbClr val="FFFFFF"/>
                </a:solidFill>
                <a:latin typeface="Montserrat"/>
                <a:hlinkClick r:id="rId3"/>
              </a:rPr>
              <a:t>https://fsp.digital-projects.tech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557016"/>
            <a:ext cx="7616952" cy="493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200" b="1">
                <a:solidFill>
                  <a:srgbClr val="FFFFFF"/>
                </a:solidFill>
                <a:latin typeface="Montserrat"/>
              </a:rPr>
              <a:t>MAX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87952"/>
            <a:ext cx="7543800" cy="493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200" b="0">
                <a:solidFill>
                  <a:srgbClr val="FFFFFF"/>
                </a:solidFill>
                <a:latin typeface="Montserrat"/>
                <a:hlinkClick r:id="rId4"/>
              </a:rPr>
              <a:t>https://max.ru/se14505142_1_bot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983480"/>
            <a:ext cx="10607040" cy="3931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 b="0">
                <a:solidFill>
                  <a:srgbClr val="FFFFFF"/>
                </a:solidFill>
                <a:latin typeface="Montserrat"/>
                <a:hlinkClick r:id="rId5"/>
              </a:rPr>
              <a:t>Исходники: github.com/Valery766/kodmatch-lct-2026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568696"/>
            <a:ext cx="10561320" cy="493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500" b="0">
                <a:solidFill>
                  <a:srgbClr val="DDDDF3"/>
                </a:solidFill>
                <a:latin typeface="Montserrat"/>
              </a:rPr>
              <a:t>Документы и результаты проверки – в комплекте. Поддержка: codematch@mail.ru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FFFF"/>
      </a:hlink>
      <a:folHlink>
        <a:srgbClr val="FFFFFF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FFFF"/>
      </a:hlink>
      <a:folHlink>
        <a:srgbClr val="FFFFFF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FFFF"/>
      </a:hlink>
      <a:folHlink>
        <a:srgbClr val="FFFFFF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11028</TotalTime>
  <Words>632</Words>
  <Application>Microsoft Macintosh PowerPoint</Application>
  <PresentationFormat>Широкоэкранный</PresentationFormat>
  <Paragraphs>187</Paragraphs>
  <Slides>37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5" baseType="lpstr">
      <vt:lpstr>Arial</vt:lpstr>
      <vt:lpstr>Calibri</vt:lpstr>
      <vt:lpstr>Lato Light</vt:lpstr>
      <vt:lpstr>Montserrat</vt:lpstr>
      <vt:lpstr>Montserrat Medium</vt:lpstr>
      <vt:lpstr>Poppins Light</vt:lpstr>
      <vt:lpstr>Wingdings</vt:lpstr>
      <vt:lpstr>Для Академия инноваторов 16_9</vt:lpstr>
      <vt:lpstr>Презентация PowerPoint</vt:lpstr>
      <vt:lpstr>ВВОДНЫЕ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КОРОТКО О РЕШЕНИИ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Полезные материалы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КОД.МЭТЧ · unecon.tech · ЛЦТ 2026 / специальный трек ФСП</dc:title>
  <dc:creator>unecon.tech</dc:creator>
  <cp:lastModifiedBy>unecon.tech</cp:lastModifiedBy>
  <cp:revision>97</cp:revision>
  <dcterms:created xsi:type="dcterms:W3CDTF">2023-05-15T07:36:23Z</dcterms:created>
  <dcterms:modified xsi:type="dcterms:W3CDTF">2026-10-02T08:27:06Z</dcterms:modified>
  <dc:subject>Практические тесты, объяснимый подбор и управляемый контакт</dc:subject>
  <dc:description>Mandatory organizer slides 7–11 mapped to 1–5; sources and scope in notes. No credentials.</dc:description>
</cp:coreProperties>
</file>