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13"/>
    <p:sldId id="377" r:id="rId14"/>
    <p:sldId id="378" r:id="rId15"/>
    <p:sldId id="379" r:id="rId16"/>
    <p:sldId id="380" r:id="rId17"/>
    <p:sldId id="381" r:id="rId18"/>
    <p:sldId id="382" r:id="rId19"/>
    <p:sldId id="383" r:id="rId20"/>
    <p:sldId id="384" r:id="rId21"/>
    <p:sldId id="385" r:id="rId22"/>
    <p:sldId id="386" r:id="rId2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Валерий Черевко – капитан: совместная разработка и продукт, он же первичная поддержка по адресу codematch@mail.ru. Михаил Бережных – совместная разработка, интерфейсы и дизайн; его контакт – mikhailber@list.ru. Личные телефоны и ники в мессенджерах в материалах не публикуем.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Вызов был не в том, чтобы просто показать резюме. Требовалось отделить заявленные навыки от подтвержденных и сохранить сопоставимость уникальных вариантов. Мы сделали единый план тестов, доверенный серверный оценщик и объяснимое ранжирование. При приёмке также исправили путаницу роли между вкладками и восстановление ответов. Контакты проверили не только в интерфейсе, но и в API и PDF.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– команда unecon.tech. КОД.МЭТЧ связывает работодателя и кандидата через подтвержденные навыки: сначала практический тест и категория, затем объяснимый подбор и конкретное предложение. Проект подготовлен для специального трека Федерации спортивного программирования.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команде два участника из Санкт-Петербурга. Мы работаем вместе на учебных и технических проектах СПбГЭУ, а опыт основного ЛЦТ и MAX использовали как контекст. В продукте кандидат подтверждает навыки, а компания сама приходит к нему с предложением. Уникальность – совместная работа сопоставимых тестов, понятного индекса подбора и согласия на контакт.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Технически это самостоятельная платформа с двумя кабинетами, серверной категоризацией и прямыми приглашениями. Для компании она сокращает неопределенность на первом этапе поиска; для кандидата делает практические навыки видимыми. Коммерческий пилот и подписка – следующие гипотезы, а не уже подтвержденная выручка. Рабочий прототип доступен сейчас; live API ФСП мы не заявляем.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Покажем основной путь. Кандидат подтверждает email, заполняет анкету, выбирает специализацию и предполагаемый уровень и проходит практический тест. Только успешный результат создает подтвержденную категорию. Работодатель описывает потребность, видит подходящих кандидатов с объяснениями и отправляет предложение с вилкой зарплаты. Кандидат принимает или отклоняет. Контакт появляется по его решению. Это работает без обязательной публикации вакансии. Мы дополнительно реализовали и привычный сценарий: компания публикует вакансию, кандидат откликается сам. В обоих путях сервер применяет одну политику разрешений.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Выдача строится по правилам, которые можно проверить. Сначала специализация, подтвержденный грейд, отсутствие проваленных обязательных навыков и совместимость зарплаты и формата. Неподтверждённый обязательный навык не исключает кандидата, но снижает индекс и показывается как пробел. Далее индекс складывается из четырех компонентов: до 60 баллов за обязательные навыки, 10 за желательные, 25 за качество теста и до 5 за доверенную историю ФСП. Каждый компонент виден в объяснении. Отсутствие ФСП не штрафуется. Достижения не создают грейд и не перекрывают неизвестное обязательное умение. Индекс не выдается за прогноз успеха найма; компания сохраняет решение.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формы категории строятся по одному плану навыков: пять заданий, одинаковые компетенции, веса и максимальные сто баллов. Параметры, входные данные и порядок вариантов различаются по seed. Это ограниченное семейство практических задач, а не свободно сгенерированный нейросетью экзамен. Ответы проверяет доверенный сервер. Python и TypeScript пользователя не исполняются; SQL выполняется только как read-only запрос в изолированной SQLite с лимитами. Junior требует 65 баллов, Middle 75 и не менее половины баллов каждой компетенции. Провал Middle не присваивает Junior автоматически. На попытку 45 минут; повтор ограничен 90 днями. Перезагрузка не теряет уже введенные ответы.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отдельно проверили тестовую механику, не подменяя ее количеством unit-тестов. Сгенерировали 120 форм – по двадцать на каждую из шести категорий. Выполнили 720 оценок шести заранее заданных паттернов и повторили вычисление. Для основных трех паттернов сравнили 180 пар альтернативных форм: исход подтверждения совпал во всех парах, разница балла была нулевой. Слабый, пограничный и сильный паттерны дают 0, 66,67 и 100 баллов. Дословно перенесенный ответ не подтвердил грейд в 114 проверках. В прежнем эксперименте было одно случайное подтверждение из 72, мы его не скрываем. Это техническая симуляция, не доказательство психометрических свойств на людях.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Качество подбора оценили отдельно на замороженном авторском наборе: сорок профилей и двенадцать потребностей, всего 480 меток релевантности. Половина потребностей – для настройки, половина – отложенная выборка. На отложенной выборке P@5 нашей механики равен 0,3333 против 0,2333 у подбора по самоописаниям. Пустые места в пятерке считаются нулем, поэтому это не точность среди возвращенных карточек. nDCG@5 равен 1,0 против 0,3794, но его знаменатель – пять запросов с положительными эталонами; один без релевантных кандидатов исключен. Критических несоответствий в топ-5 нет, у подбора по самоописаниям их 23. Это небольшой авторский синтетический набор, а не независимое HR-исследование и не обещание стопроцентного качества найма.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Согласие – часть механики, а не декоративная галочка. До принятия приглашения компания видит профиль, навыки и историю, но не email, телефон и контактные ссылки. Кандидат может принять предложение или самостоятельно откликнуться на опубликованную вакансию; после этого возникает разрешение для конкретной компании. Он может отозвать его. Мы проверили, что новые запросы API и PDF снова закрывают контакты. Уже скачанный файл на чужом устройстве отозвать технически нельзя, это честно описано. ФИО и места работы разрешено показывать официальным ответом; контакты защищаются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снимках опубликованный продукт в оформлении ФСП; кабинет работодателя обновлён 11 октября. В приёмке 7–8 октября на двух подтверждённых аккаунтах кандидата и одном работодателя мы прошли Python Junior и SQL Junior, подбор, приглашения с принятием и отказом, открытие и отзыв контактов, PDF, вакансии и собственные отклики. Короткая практика тоже проверена и не изменяет подтвержденный грейд. Это технические проходы команды; они доказывают работу пути, а не квалификацию людей. Интерфейс адаптирован к мобильной ширине, управление меню и фокус проверены. 11 октября повторная проверка четырёх предоставленных подтверждённых аккаунтов прошла все 32 проверки. Отдельно новый аккаунт коллеги успешно прошёл GUI-тест с сохранением ответов после перезагрузки.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– дополнительный канал к тому же аккаунту. Бот дает статус, помощь, приглашения и короткие задачи. Одноразовая привязка и ее отзыв проверены в реальном веб-клиенте MAX. Получены настоящие уведомления о приглашении и практике. Подписанное мини-приложение открывает правильный кабинет и использует общие серверные правила. Мы не создавали отдельную базу грейдов в боте. 11 октября подтверждены привязки двух аккаунтов кандидатов к MAX. Полный цикл на MAX identity работодателя и физических телефонах отделен от подтвержденного веб-прогона; это остающаяся граница приемки, которую нельзя заменить скриншотом.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Архитектура разделяет frontend, серверную бизнес-логику и PostgreSQL. В базе хранятся профили, попытки, решения и очередь доставки. Worker отправляет email и MAX. На сервере работает компактная локальная Qwen3 4B с квантованием Q4, лимитами восемь CPU и восемь гигабайт; публичного порта у модели нет. В единичном замере на действующем релизе разбор потребности занял 29,154 секунды, пояснение – 5,884 секунды; это не p95; в проверке объяснение сохранило детерминированный индекс 97. Ее задача – превратить свободное описание потребности в поля, которые пользователь подтверждает, и сформулировать пояснение по разрешенным фактам. Модель не ставит баллы, не меняет порядок и не открывает контакты. При таймауте действует резервный разбор правилами. Резюме и контакты не отправляются в LLM при действующей настройке запрета персональных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Дальнейший путь начинается с человеческой калибровки: независимые задания и HR-оценка, больше практических семейств, проверка семантического переноса и помощи LLM. Адаптер ФСП уже выделен, но сейчас использует демонстрационный реестр: боевой API и доступ организатором не предоставлены. После получения официального контракта можно добавить реальное обогащение с происхождением доказательств. Для работодателей следующий шаг – пилот, статусы ATS и защита от фиктивных вакансий. Коммерческая подписка остается проверяемой гипотезой. Ядро MVP уже дает полный путь от теста до согласованного контакта. Свежая проверка: 186 локальных backend-тестов и 12 frontend-тестов пройдены; три PostgreSQL-теста локально пропущены без отдельной базы и пройдены на сервере. Восстановление резервной копии прошло с точным совпадением контрольной суммы и числа строк таблиц.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КОД.МЭТЧ превращает практические навыки в понятную категорию, объяснимый подбор и предложение, которое кандидат контролирует. Стенд и MAX доступны по ссылкам. В комплекте – документация, исходники и воспроизводимые результаты проверки. На демонстрации предлагаем пройти путь двух ролей и проверить момент открытия контактов. Спасибо; готовы показать механику и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3.png"/><Relationship Id="rId7" Type="http://schemas.openxmlformats.org/officeDocument/2006/relationships/hyperlink" Target="mailto:codematch@mail.ru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fsp.digital-projects.tech" TargetMode="External"/><Relationship Id="rId4" Type="http://schemas.openxmlformats.org/officeDocument/2006/relationships/hyperlink" Target="https://max.ru/se14505142_1_bot" TargetMode="External"/><Relationship Id="rId5" Type="http://schemas.openxmlformats.org/officeDocument/2006/relationships/hyperlink" Target="https://github.com/Valery766/kodmatch-lct-2026" TargetMode="Externa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 wrap="square" lIns="640080" rIns="36576" tIns="18288" bIns="18288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38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КОД.МЭТЧ</a:t>
            </a:r>
            <a:endParaRPr lang="ru-RU" sz="4800" dirty="0"/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38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unecon.tech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 wrap="square" lIns="640080" rIns="36576" tIns="18288" bIns="18288"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Цифровая платформа-агрегатор ИТ-вакансий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 верифицированным профилем достижений участника ФСП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36576" tIns="18288" rIns="36576" bIns="18288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89888"/>
          </a:xfrm>
          <a:prstGeom prst="rect">
            <a:avLst/>
          </a:prstGeom>
          <a:ln>
            <a:noFill/>
          </a:ln>
        </p:spPr>
        <p:txBody>
          <a:bodyPr vert="horz" lIns="36576" tIns="18288" rIns="36576" bIns="18288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Font typeface="Wingdings" pitchFamily="2" charset="2"/>
              <a:buNone/>
            </a:pPr>
            <a:r>
              <a:rPr sz="14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Навыки подтверждает тест, а не резюме: варианты разные, сложность одна. Компания сама выходит на кандидата, контакты открываются только с его согласия. ФСП – бонус внутри категории.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Капитан: </a:t>
            </a: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Черевко Валерий Евгеньевич, экономист</a:t>
            </a:r>
          </a:p>
          <a:p>
            <a:pPr rtl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Кол-во участников: </a:t>
            </a: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2 человека</a:t>
            </a:r>
          </a:p>
          <a:p>
            <a:pPr rtl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Краткое описание: </a:t>
            </a: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познакомились в СПбГЭУ на проектах по анализу данных; учимся на экономике и работаем в ИТ-подразделении университета</a:t>
            </a:r>
          </a:p>
          <a:p>
            <a:pPr rtl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Город и регион: </a:t>
            </a: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Санкт-Петербург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 wrap="square" lIns="36576" rIns="36576" tIns="18288" bIns="18288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5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unecon.tech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389888"/>
          </a:xfrm>
          <a:prstGeom prst="rect">
            <a:avLst/>
          </a:prstGeom>
          <a:ln>
            <a:noFill/>
          </a:ln>
        </p:spPr>
        <p:txBody>
          <a:bodyPr vert="horz" lIns="36576" tIns="18288" rIns="36576" bIns="18288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Font typeface="Wingdings" pitchFamily="2" charset="2"/>
              <a:buNone/>
            </a:pPr>
            <a:r>
              <a:rPr sz="14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Кандидат подтверждает навыки практическим тестом. Работодатель описывает потребность, получает объяснимый подбор и отправляет предложение с зарплатной вилкой.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wrap="square" lIns="36576" rIns="36576" tIns="18288" bIns="18288"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2</a:t>
            </a:r>
            <a:endParaRPr lang="ru-RU" sz="1200" dirty="0">
              <a:solidFill>
                <a:schemeClr val="accent5"/>
              </a:solidFill>
            </a:endParaRPr>
          </a:p>
        </p:txBody>
      </p:sp>
      <p:pic>
        <p:nvPicPr>
          <p:cNvPr id="19" name="Picture 18" descr="kodmatch-mark-symmetric-v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" y="566928"/>
            <a:ext cx="2057400" cy="2057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816352" y="914400"/>
            <a:ext cx="3291840" cy="5760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6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Навыки.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6352" y="1397000"/>
            <a:ext cx="3474720" cy="5760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6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Доказательства.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16352" y="1879600"/>
            <a:ext cx="3291840" cy="5760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6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Совпадение.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36576" tIns="18288" rIns="36576" bIns="18288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sz="12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Интерфейсы, дизайн и разработка</a:t>
            </a:r>
          </a:p>
          <a:p>
            <a:pPr fontAlgn="base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sz="12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mikhailber@list.ru</a:t>
            </a:r>
          </a:p>
          <a:p>
            <a:pPr fontAlgn="base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sz="12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СПбГЭУ: экономика, работа в УИТ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36576" tIns="18288" rIns="36576" bIns="18288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Михаил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Бережных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 lIns="36576" rIns="36576" tIns="18288" bIns="18288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 wrap="square" lIns="36576" rIns="36576" tIns="18288" bIns="18288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0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КОМАНДА UNECON.TECH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 wrap="square" lIns="36576" rIns="36576" tIns="18288" bIns="18288">
            <a:normAutofit/>
          </a:bodyPr>
          <a:lstStyle/>
          <a:p>
            <a:pPr fontAlgn="base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sz="12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Капитан, продукт и разработка</a:t>
            </a:r>
          </a:p>
          <a:p>
            <a:pPr fontAlgn="base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sz="12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codematch@mail.ru</a:t>
            </a:r>
          </a:p>
          <a:p>
            <a:pPr fontAlgn="base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sz="12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СПбГЭУ: экономика, работа в УИТ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36576" tIns="18288" rIns="36576" bIns="18288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Валерий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Черевко</a:t>
            </a:r>
          </a:p>
        </p:txBody>
      </p:sp>
      <p:pic>
        <p:nvPicPr>
          <p:cNvPr id="59" name="Picture 58" descr="team-picture-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73" y="1815998"/>
            <a:ext cx="1164899" cy="1552651"/>
          </a:xfrm>
          <a:prstGeom prst="rect">
            <a:avLst/>
          </a:prstGeom>
        </p:spPr>
      </p:pic>
      <p:pic>
        <p:nvPicPr>
          <p:cNvPr id="60" name="Picture 59" descr="team-picture-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4316" y="1815998"/>
            <a:ext cx="1207617" cy="1552651"/>
          </a:xfrm>
          <a:prstGeom prst="rect">
            <a:avLst/>
          </a:prstGeom>
        </p:spPr>
      </p:pic>
      <p:pic>
        <p:nvPicPr>
          <p:cNvPr id="61" name="Picture 60" descr="kodmatch-mark-symmetric-v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4536" y="1280160"/>
            <a:ext cx="3401568" cy="3401568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696712" y="4910328"/>
            <a:ext cx="5687568" cy="521207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9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Два участника. Один полный продукт.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96712" y="5550408"/>
            <a:ext cx="5687568" cy="5577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FFFFFF"/>
                </a:solidFill>
                <a:latin typeface="Montserrat"/>
                <a:ea typeface="Montserrat"/>
                <a:cs typeface="Montserrat"/>
                <a:hlinkClick r:id="rId7"/>
              </a:rPr>
              <a:t>Техническая поддержка: codematch@mail.ru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 lIns="36576" rIns="36576" tIns="18288" bIns="18288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4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 wrap="square" lIns="36576" rIns="36576" tIns="18288" bIns="18288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0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КОМАНДА И ВЫЗОВЫ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 wrap="square" lIns="91440" rIns="91440" tIns="45720" bIns="45720"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Собрались в СПбГЭУ на проектах по анализу данных. Опыт основного трека ЛЦТ и MAX перенесли в продукт.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18288" rIns="91440" bIns="18288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Утечка заданий – 20 вариантов на категорию, эталоны только на сервере.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Контакты – одно правило доступа для экрана, API и PDF.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Смена ролей – чужая форма не открывается, черновик теста не теряется.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Мало ресурсов для ИИ – локальная модель и разбор по правилам при сбое.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Резюме заявляет навыки, но не доказывает их. Хотели, чтобы компания видела доказательства, а кандидат получал предложение и выбор.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 lIns="36576" rIns="36576" tIns="18288" bIns="18288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 wrap="square" lIns="91440" rIns="91440" tIns="45720" bIns="45720">
            <a:norm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Тест → подтверждённая категория.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Потребность → объяснимый подбор.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Приглашение с вилкой без вакансии.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Контакты – только по согласию.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FastAPI, React, PostgreSQL, Docker.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MAX и локальная модель Qwen3 4B.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 wrap="square" lIns="91440" rIns="91440" tIns="45720" bIns="45720">
            <a:norm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Компаниям: меньше ручного отсева и понятные причины выдачи.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Кандидатам: предложения по доказанным навыкам вместо откликов.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Развитие: пилот с ФСП и работодателями, реестр ФСП и ATS.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Монетизация: подписка для компаний – гипотеза для пилота.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EC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56032"/>
            <a:ext cx="11201400" cy="5852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Работодатель приходит к подтверждённым навыкам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914400"/>
            <a:ext cx="10972800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Сквозной путь двух ролей; вакансия не обязательна для приглашения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455664"/>
            <a:ext cx="108813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unecon.tech  /  КОД.МЭТЧ  /  ЛЦТ 2026 · ФСП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557784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1874519"/>
            <a:ext cx="2075688" cy="2980944"/>
          </a:xfrm>
          <a:prstGeom prst="roundRect">
            <a:avLst>
              <a:gd name="adj" fmla="val 7342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048256"/>
            <a:ext cx="179222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31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2752344"/>
            <a:ext cx="1792224" cy="5760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Регистрация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3419856"/>
            <a:ext cx="1801368" cy="12252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Обе роли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Email подтверждён, роль выбрана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569464" y="2962656"/>
            <a:ext cx="164592" cy="210312"/>
          </a:xfrm>
          <a:prstGeom prst="rightArrow">
            <a:avLst/>
          </a:prstGeom>
          <a:solidFill>
            <a:srgbClr val="40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743200" y="1874519"/>
            <a:ext cx="2075688" cy="2980944"/>
          </a:xfrm>
          <a:prstGeom prst="roundRect">
            <a:avLst>
              <a:gd name="adj" fmla="val 7342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71216" y="2048256"/>
            <a:ext cx="179222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31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71216" y="2752344"/>
            <a:ext cx="1792224" cy="5760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Категория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71216" y="3419856"/>
            <a:ext cx="1801368" cy="12252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Кандидат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Анкета и практический тест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837176" y="2962656"/>
            <a:ext cx="164592" cy="210312"/>
          </a:xfrm>
          <a:prstGeom prst="rightArrow">
            <a:avLst/>
          </a:prstGeom>
          <a:solidFill>
            <a:srgbClr val="40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10912" y="1874519"/>
            <a:ext cx="2075688" cy="2980944"/>
          </a:xfrm>
          <a:prstGeom prst="roundRect">
            <a:avLst>
              <a:gd name="adj" fmla="val 7342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8928" y="2048256"/>
            <a:ext cx="179222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31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38928" y="2752344"/>
            <a:ext cx="1792224" cy="5760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Потребность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38928" y="3419856"/>
            <a:ext cx="1801368" cy="12252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Работодатель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Навыки, условия и зарплатная вилка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104888" y="2962656"/>
            <a:ext cx="164592" cy="210312"/>
          </a:xfrm>
          <a:prstGeom prst="rightArrow">
            <a:avLst/>
          </a:prstGeom>
          <a:solidFill>
            <a:srgbClr val="40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278623" y="1874519"/>
            <a:ext cx="2075688" cy="2980944"/>
          </a:xfrm>
          <a:prstGeom prst="roundRect">
            <a:avLst>
              <a:gd name="adj" fmla="val 7342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2048256"/>
            <a:ext cx="179222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31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752344"/>
            <a:ext cx="1792224" cy="5760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Подбор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6640" y="3419856"/>
            <a:ext cx="1801368" cy="12252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Работодатель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Индекс и причины совпадения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372600" y="2962656"/>
            <a:ext cx="164592" cy="210312"/>
          </a:xfrm>
          <a:prstGeom prst="rightArrow">
            <a:avLst/>
          </a:prstGeom>
          <a:solidFill>
            <a:srgbClr val="40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546336" y="1874519"/>
            <a:ext cx="2075688" cy="2980944"/>
          </a:xfrm>
          <a:prstGeom prst="roundRect">
            <a:avLst>
              <a:gd name="adj" fmla="val 7342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2048256"/>
            <a:ext cx="179222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31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4352" y="2752344"/>
            <a:ext cx="1792224" cy="5760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Контакт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2" y="3419856"/>
            <a:ext cx="1801368" cy="12252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Обе роли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Приглашение и согласие кандидата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216" y="5276088"/>
            <a:ext cx="1106424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9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Классический путь тоже есть: публикация вакансии → собственный отклик кандидата → контакт.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EC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56032"/>
            <a:ext cx="11201400" cy="5852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Подбор – прозрачный индекс правил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914400"/>
            <a:ext cx="10972800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 lang="ru-RU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Допуск: подтверждённый грейд, нет проваленных обязательных навыков, совместимые условия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455664"/>
            <a:ext cx="108813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unecon.tech  /  КОД.МЭТЧ  /  ЛЦТ 2026 · ФСП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557784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828800"/>
            <a:ext cx="2651760" cy="2286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2029968"/>
            <a:ext cx="2276856" cy="7589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445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035808"/>
            <a:ext cx="2295144" cy="6949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Обязательные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навыки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828800"/>
            <a:ext cx="2651760" cy="2286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2736" y="2029968"/>
            <a:ext cx="2276856" cy="7589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445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2736" y="3035808"/>
            <a:ext cx="2295144" cy="6949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Желательные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навыки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1828800"/>
            <a:ext cx="2651760" cy="2286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3096" y="2029968"/>
            <a:ext cx="2276856" cy="7589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445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3035808"/>
            <a:ext cx="2295144" cy="6949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Качество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теста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19" y="1828800"/>
            <a:ext cx="2651760" cy="2286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63455" y="2029968"/>
            <a:ext cx="2276856" cy="7589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4450" b="1">
                <a:solidFill>
                  <a:srgbClr val="EC1D35"/>
                </a:solidFill>
                <a:latin typeface="Montserrat"/>
                <a:ea typeface="Montserrat"/>
                <a:cs typeface="Montserrat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63455" y="3035808"/>
            <a:ext cx="2295144" cy="6949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Достижения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ФСП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4507992"/>
            <a:ext cx="10972800" cy="6675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50" b="1" lang="ru-RU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60 × покрытие обязательных + 10 × покрытие желательных + 25 × балл/100 + бонус ФСП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" y="5294376"/>
            <a:ext cx="10972800" cy="6766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7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Нет истории ФСП – нет штрафа. Бонус не закрывает пробел навыков и не повышает грейд.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7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Индекс объясняет порядок выдачи; это не вероятность успешного найма.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EC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56032"/>
            <a:ext cx="11201400" cy="5852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Варианты разные – сложность сопоставима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914400"/>
            <a:ext cx="10972800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Python Backend, TypeScript Frontend, SQL × Junior / Middle = 6 категорий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455664"/>
            <a:ext cx="108813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unecon.tech  /  КОД.МЭТЧ  /  ЛЦТ 2026 · ФСП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557784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792224"/>
            <a:ext cx="3657600" cy="4014215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2000250"/>
            <a:ext cx="3218688" cy="508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0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Один план навыков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2660650"/>
            <a:ext cx="3218688" cy="29997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5 заданий по 20 баллов: патч, трасса, выбор, SQL.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 каждом варианте те же компетенции и веса.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Меняются числа, события и порядок ответов.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45 минут на попытку.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1792224"/>
            <a:ext cx="3621024" cy="4014215"/>
          </a:xfrm>
          <a:prstGeom prst="roundRect">
            <a:avLst>
              <a:gd name="adj" fmla="val 4208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7136" y="2000250"/>
            <a:ext cx="3182112" cy="508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0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Проверка на сервере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7136" y="2660650"/>
            <a:ext cx="3182112" cy="29997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Эталонные ответы хранятся только на сервере.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Код кандидата не запускается – проверяется результат.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SQL выполняется только на чтение в одноразовой базе.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Повтор той же категории – через 90 дней.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1792224"/>
            <a:ext cx="3621024" cy="4014215"/>
          </a:xfrm>
          <a:prstGeom prst="roundRect">
            <a:avLst>
              <a:gd name="adj" fmla="val 4208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66176" y="2000250"/>
            <a:ext cx="3182112" cy="508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000" b="1">
                <a:solidFill>
                  <a:srgbClr val="EC1D35"/>
                </a:solidFill>
                <a:latin typeface="Montserrat"/>
                <a:ea typeface="Montserrat"/>
                <a:cs typeface="Montserrat"/>
              </a:rPr>
              <a:t>Грейд по результату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6" y="2660650"/>
            <a:ext cx="3182112" cy="29997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Junior – от 65 из 100, Middle – от 75.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Не меньше 50% по каждой компетенции.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Неудачный Middle не даёт Junior автоматически.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Ответы сохраняются при перезагрузке.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EC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56032"/>
            <a:ext cx="11201400" cy="5852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Тестирование: повторы и перенос ответов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914400"/>
            <a:ext cx="10972800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Синтетические паттерны ответов; такая процедура допускается ответами организаторов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455664"/>
            <a:ext cx="108813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unecon.tech  /  КОД.МЭТЧ  /  ЛЦТ 2026 · ФСП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557784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792224"/>
            <a:ext cx="3630168" cy="2029968"/>
          </a:xfrm>
          <a:prstGeom prst="roundRect">
            <a:avLst>
              <a:gd name="adj" fmla="val 7507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1975104"/>
            <a:ext cx="3191256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120 форм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2660904"/>
            <a:ext cx="3191256" cy="10149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20 вариантов на каждую из 6 категорий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1792224"/>
            <a:ext cx="3630168" cy="2029968"/>
          </a:xfrm>
          <a:prstGeom prst="roundRect">
            <a:avLst>
              <a:gd name="adj" fmla="val 7507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7136" y="1975104"/>
            <a:ext cx="3191256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180 из 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7136" y="2660904"/>
            <a:ext cx="3191256" cy="10149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повторных пар дали тот же исход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83296" y="1792224"/>
            <a:ext cx="3602736" cy="2029968"/>
          </a:xfrm>
          <a:prstGeom prst="roundRect">
            <a:avLst>
              <a:gd name="adj" fmla="val 7507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02752" y="1975104"/>
            <a:ext cx="316382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EC1D35"/>
                </a:solidFill>
                <a:latin typeface="Montserrat"/>
                <a:ea typeface="Montserrat"/>
                <a:cs typeface="Montserrat"/>
              </a:rPr>
              <a:t>0 из 114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2752" y="2660904"/>
            <a:ext cx="3163824" cy="10149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попыток перенести чужой ответ дали подтверждение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" y="4215384"/>
            <a:ext cx="1092708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7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Тест различает уровни: слабый ответ – 0, пограничный – 66,67, сильный – 100 баллов.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" y="4724400"/>
            <a:ext cx="10927080" cy="8412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720 оценок заданных паттернов; в прежнем эксперименте перенос ответа прошёл 1 раз из 72.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Это проверка вычислений и вариантов, а не независимая психометрика людей.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EC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56032"/>
            <a:ext cx="11201400" cy="5852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Подбор: авторская разметка и отложенная выборка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914400"/>
            <a:ext cx="10972800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40 профилей × 12 потребностей = 480 меток; 6 запросов для настройки и 6 отложенных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455664"/>
            <a:ext cx="108813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unecon.tech  /  КОД.МЭТЧ  /  ЛЦТ 2026 · ФСП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557784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384" y="4919472"/>
            <a:ext cx="6272784" cy="0"/>
          </a:xfrm>
          <a:prstGeom prst="line">
            <a:avLst/>
          </a:prstGeom>
          <a:ln w="12700">
            <a:solidFill>
              <a:srgbClr val="DB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92608" y="4828032"/>
            <a:ext cx="411480" cy="2468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" y="4176522"/>
            <a:ext cx="6272784" cy="0"/>
          </a:xfrm>
          <a:prstGeom prst="line">
            <a:avLst/>
          </a:prstGeom>
          <a:ln w="12700">
            <a:solidFill>
              <a:srgbClr val="DB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92608" y="4085082"/>
            <a:ext cx="411480" cy="2468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0,25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6384" y="3433572"/>
            <a:ext cx="6272784" cy="0"/>
          </a:xfrm>
          <a:prstGeom prst="line">
            <a:avLst/>
          </a:prstGeom>
          <a:ln w="12700">
            <a:solidFill>
              <a:srgbClr val="DB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92608" y="3342132"/>
            <a:ext cx="411480" cy="2468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0,5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86384" y="2690622"/>
            <a:ext cx="6272784" cy="0"/>
          </a:xfrm>
          <a:prstGeom prst="line">
            <a:avLst/>
          </a:prstGeom>
          <a:ln w="12700">
            <a:solidFill>
              <a:srgbClr val="DB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92608" y="2599182"/>
            <a:ext cx="411480" cy="2468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0,75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6384" y="1947672"/>
            <a:ext cx="6272784" cy="0"/>
          </a:xfrm>
          <a:prstGeom prst="line">
            <a:avLst/>
          </a:prstGeom>
          <a:ln w="12700">
            <a:solidFill>
              <a:srgbClr val="DB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92608" y="1856231"/>
            <a:ext cx="411480" cy="2468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45336" y="3928971"/>
            <a:ext cx="548640" cy="990500"/>
          </a:xfrm>
          <a:prstGeom prst="rect">
            <a:avLst/>
          </a:prstGeom>
          <a:solidFill>
            <a:srgbClr val="40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80744" y="3544923"/>
            <a:ext cx="868680" cy="28346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0,3333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04288" y="4226151"/>
            <a:ext cx="548640" cy="693320"/>
          </a:xfrm>
          <a:prstGeom prst="rect">
            <a:avLst/>
          </a:prstGeom>
          <a:solidFill>
            <a:srgbClr val="A8AA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39696" y="3842103"/>
            <a:ext cx="868680" cy="28346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0,2333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53895" y="5047488"/>
            <a:ext cx="154533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P@5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71416" y="1947672"/>
            <a:ext cx="548640" cy="2971800"/>
          </a:xfrm>
          <a:prstGeom prst="rect">
            <a:avLst/>
          </a:prstGeom>
          <a:solidFill>
            <a:srgbClr val="40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06824" y="1563624"/>
            <a:ext cx="868680" cy="28346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1,0000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30368" y="3791971"/>
            <a:ext cx="548640" cy="1127500"/>
          </a:xfrm>
          <a:prstGeom prst="rect">
            <a:avLst/>
          </a:prstGeom>
          <a:solidFill>
            <a:srgbClr val="A8AA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65776" y="3407923"/>
            <a:ext cx="868680" cy="28346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0,3794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9976" y="5047488"/>
            <a:ext cx="154533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nDCG@5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6112" y="5669280"/>
            <a:ext cx="192024" cy="192024"/>
          </a:xfrm>
          <a:prstGeom prst="rect">
            <a:avLst/>
          </a:prstGeom>
          <a:solidFill>
            <a:srgbClr val="40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52144" y="5623560"/>
            <a:ext cx="2331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3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КОД.МЭТЧ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75887" y="5669280"/>
            <a:ext cx="192024" cy="192024"/>
          </a:xfrm>
          <a:prstGeom prst="rect">
            <a:avLst/>
          </a:prstGeom>
          <a:solidFill>
            <a:srgbClr val="A8AA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31920" y="5623560"/>
            <a:ext cx="29260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3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Подбор по самоописаниям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61504" y="1847088"/>
            <a:ext cx="4206240" cy="3557016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80960" y="2029968"/>
            <a:ext cx="3767327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EC1D35"/>
                </a:solidFill>
                <a:latin typeface="Montserrat"/>
                <a:ea typeface="Montserrat"/>
                <a:cs typeface="Montserrat"/>
              </a:rPr>
              <a:t>Что означает результат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2715768"/>
            <a:ext cx="3767327" cy="2542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P@5: доля релевантных в топ-5, 6 отложенных запросов.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nDCG@5: качество порядка, 5 запросов.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Критических ошибок: 0 против 23 у подбора по самоописаниям.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Разметка авторская, без внешней HR-оценки.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6072" y="6071616"/>
            <a:ext cx="10972800" cy="2468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Небольшой синтетический набор: nDCG=1,0 не означает «100% качество найма». Полные знаменатели – в документации.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EC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56032"/>
            <a:ext cx="11201400" cy="5852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Контакты открывает кандидат, а не модель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914400"/>
            <a:ext cx="10972800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Один серверный контракт для карточки, API и 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455664"/>
            <a:ext cx="108813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unecon.tech  /  КОД.МЭТЧ  /  ЛЦТ 2026 · ФСП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557784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920240"/>
            <a:ext cx="3593592" cy="3300984"/>
          </a:xfrm>
          <a:prstGeom prst="roundRect">
            <a:avLst>
              <a:gd name="adj" fmla="val 4616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2103120"/>
            <a:ext cx="315468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1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До решения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2788920"/>
            <a:ext cx="315468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Доказательства видны.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Контакты и ссылки закрыты.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Компания отправляет условия и зарплатную вилку.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69663" y="3319272"/>
            <a:ext cx="347472" cy="283464"/>
          </a:xfrm>
          <a:prstGeom prst="rightArrow">
            <a:avLst/>
          </a:prstGeom>
          <a:solidFill>
            <a:srgbClr val="40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08576" y="1920240"/>
            <a:ext cx="3099816" cy="3300984"/>
          </a:xfrm>
          <a:prstGeom prst="roundRect">
            <a:avLst>
              <a:gd name="adj" fmla="val 4916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28032" y="2103120"/>
            <a:ext cx="266090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1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Согласие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28032" y="2788920"/>
            <a:ext cx="2660904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Кандидат принимает приглашение или откликается сам.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Доступ получает только эта компания.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808975" y="3319272"/>
            <a:ext cx="347472" cy="283464"/>
          </a:xfrm>
          <a:prstGeom prst="rightArrow">
            <a:avLst/>
          </a:prstGeom>
          <a:solidFill>
            <a:srgbClr val="40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57031" y="1920240"/>
            <a:ext cx="3401568" cy="3300984"/>
          </a:xfrm>
          <a:prstGeom prst="roundRect">
            <a:avLst>
              <a:gd name="adj" fmla="val 4616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2103120"/>
            <a:ext cx="2962656" cy="6949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100" b="1">
                <a:solidFill>
                  <a:srgbClr val="EC1D35"/>
                </a:solidFill>
                <a:latin typeface="Montserrat"/>
                <a:ea typeface="Montserrat"/>
                <a:cs typeface="Montserrat"/>
              </a:rPr>
              <a:t>Отзыв разрешения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2788920"/>
            <a:ext cx="2962656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Новые запросы к экрану, API и PDF снова без контактов.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Ранее скачанный PDF отозвать нельзя.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5715000"/>
            <a:ext cx="10945368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lang="ru-RU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ФИО и опыт видны; согласие управляет именно контактами. Проверено на реальных аккаунтах.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EC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56032"/>
            <a:ext cx="11201400" cy="5852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Рабочий продукт: экраны и проверенные сценарии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914400"/>
            <a:ext cx="10972800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Работодатель: 11.10.2026; кандидат: 07–08.10.2026. Настоящие подтверждённые аккаунты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455664"/>
            <a:ext cx="108813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unecon.tech  /  КОД.МЭТЧ  /  ЛЦТ 2026 · ФСП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557784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12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728216"/>
            <a:ext cx="8001000" cy="4398264"/>
          </a:xfrm>
          <a:prstGeom prst="roundRect">
            <a:avLst>
              <a:gd name="adj" fmla="val 3465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mployer-live-20261011.jpg"/>
          <p:cNvPicPr>
            <a:picLocks noChangeAspect="1"/>
          </p:cNvPicPr>
          <p:nvPr/>
        </p:nvPicPr>
        <p:blipFill>
          <a:blip r:embed="rId2"/>
          <a:srcRect b="41647"/>
          <a:stretch>
            <a:fillRect/>
          </a:stretch>
        </p:blipFill>
        <p:spPr>
          <a:xfrm>
            <a:off x="621792" y="1837943"/>
            <a:ext cx="7763256" cy="415137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723376" y="1728216"/>
            <a:ext cx="2971800" cy="4398264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andidate-mobile-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7010" y="1874519"/>
            <a:ext cx="1904530" cy="412394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EC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56032"/>
            <a:ext cx="11201400" cy="5852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MAX: тот же кабинет, те же доказательства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914400"/>
            <a:ext cx="10972800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Уведомление → подписанное мини-приложение → решение в своём аккаунте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455664"/>
            <a:ext cx="108813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unecon.tech  /  КОД.МЭТЧ  /  ЛЦТ 2026 · ФСП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557784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" y="1755648"/>
            <a:ext cx="3246120" cy="4507992"/>
          </a:xfrm>
          <a:prstGeom prst="roundRect">
            <a:avLst>
              <a:gd name="adj" fmla="val 4694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x-mini-app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645" y="1874519"/>
            <a:ext cx="2583837" cy="421538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224528" y="1801368"/>
            <a:ext cx="7434072" cy="2011680"/>
          </a:xfrm>
          <a:prstGeom prst="roundRect">
            <a:avLst>
              <a:gd name="adj" fmla="val 7575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43984" y="1984248"/>
            <a:ext cx="699516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Работает в реальном MAX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3984" y="2670048"/>
            <a:ext cx="6995160" cy="9966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7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/status, /help; одноразовая привязка и отзыв.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7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Две привязки MAX подтверждены.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7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Приглашение и короткое задание получены.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24528" y="4023360"/>
            <a:ext cx="7434072" cy="2011680"/>
          </a:xfrm>
          <a:prstGeom prst="roundRect">
            <a:avLst>
              <a:gd name="adj" fmla="val 7575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43984" y="4206240"/>
            <a:ext cx="699516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EC1D35"/>
                </a:solidFill>
                <a:latin typeface="Montserrat"/>
                <a:ea typeface="Montserrat"/>
                <a:cs typeface="Montserrat"/>
              </a:rPr>
              <a:t>Одна логика на сайте и в MAX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4892040"/>
            <a:ext cx="6995160" cy="9966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Подписанный запуск открывает правильную роль.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Изменения остаются в общем аккаунте; контакты по согласию.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EC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56032"/>
            <a:ext cx="11201400" cy="5852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Архитектура: критические решения по правилам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914400"/>
            <a:ext cx="10972800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Локальная Qwen помогает с текстом; грейд, порядок и контакты задаёт сервер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455664"/>
            <a:ext cx="108813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unecon.tech  /  КОД.МЭТЧ  /  ЛЦТ 2026 · ФСП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557784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856231"/>
            <a:ext cx="2386584" cy="1651000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039112"/>
            <a:ext cx="1947672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React + MAX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2724911"/>
            <a:ext cx="1947672" cy="711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7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Два кабинета, адаптивный UI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65576" y="1856231"/>
            <a:ext cx="3127248" cy="1651000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85032" y="2039112"/>
            <a:ext cx="2688336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FastAPI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5032" y="2724911"/>
            <a:ext cx="2688336" cy="711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7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Вход · тесты · подбор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7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Контакты · PDF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68896" y="1856231"/>
            <a:ext cx="4498848" cy="1651000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88352" y="2039112"/>
            <a:ext cx="405993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PostgreSQL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88352" y="2724911"/>
            <a:ext cx="4059935" cy="711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7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Профили, попытки, история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7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 очередь уведомлений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3008376" y="2688336"/>
            <a:ext cx="310896" cy="265176"/>
          </a:xfrm>
          <a:prstGeom prst="rightArrow">
            <a:avLst/>
          </a:prstGeom>
          <a:solidFill>
            <a:srgbClr val="40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>
            <a:off x="6729984" y="2688336"/>
            <a:ext cx="310896" cy="265176"/>
          </a:xfrm>
          <a:prstGeom prst="rightArrow">
            <a:avLst/>
          </a:prstGeom>
          <a:solidFill>
            <a:srgbClr val="40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48640" y="3759200"/>
            <a:ext cx="4965192" cy="1801368"/>
          </a:xfrm>
          <a:prstGeom prst="roundRect">
            <a:avLst>
              <a:gd name="adj" fmla="val 8460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942079"/>
            <a:ext cx="4526279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Ollama / Qwen3 4B Q4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" y="4627880"/>
            <a:ext cx="4526279" cy="7863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8 CPU / 8 ГиБ · контекст 8192.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Разбор потребности и пояснения.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51576" y="3759200"/>
            <a:ext cx="5925312" cy="1801368"/>
          </a:xfrm>
          <a:prstGeom prst="roundRect">
            <a:avLst>
              <a:gd name="adj" fmla="val 8460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71032" y="3942079"/>
            <a:ext cx="548640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EC1D35"/>
                </a:solidFill>
                <a:latin typeface="Montserrat"/>
                <a:ea typeface="Montserrat"/>
                <a:cs typeface="Montserrat"/>
              </a:rPr>
              <a:t>Worker и резервный путь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71032" y="4627880"/>
            <a:ext cx="5486400" cy="7863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Почта и MAX – через очередь с повтором; сбой модели → правила.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Резюме и контакты в модель не передаются.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580" y="5740400"/>
            <a:ext cx="11049000" cy="330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lang="ru-RU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Проверено 11.10: 186 + 12 автотестов, конкурентность на PostgreSQL, восстановление из резервной копии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EC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56032"/>
            <a:ext cx="11201400" cy="5852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8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Развитие от MVP к кадровому контуру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914400"/>
            <a:ext cx="10972800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Следующие этапы – гипотезы и интеграционные работы, а не уже подключённые внешние системы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455664"/>
            <a:ext cx="108813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565E73"/>
                </a:solidFill>
                <a:latin typeface="Montserrat"/>
                <a:ea typeface="Montserrat"/>
                <a:cs typeface="Montserrat"/>
              </a:rPr>
              <a:t>unecon.tech  /  КОД.МЭТЧ  /  ЛЦТ 2026 · ФСП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557784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159000"/>
            <a:ext cx="3639312" cy="33020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341880"/>
            <a:ext cx="320040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402FFF"/>
                </a:solidFill>
                <a:latin typeface="Montserrat"/>
                <a:ea typeface="Montserrat"/>
                <a:cs typeface="Montserrat"/>
              </a:rPr>
              <a:t>01 · Калибровка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027680"/>
            <a:ext cx="320040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Пилот с кандидатами и HR.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Независимая оценка заданий.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Больше вариантов и навыков.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Устойчивость к подсказкам ИИ и пересказу ответов.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5968" y="2159000"/>
            <a:ext cx="3639312" cy="33020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35424" y="2341880"/>
            <a:ext cx="320040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0A006B"/>
                </a:solidFill>
                <a:latin typeface="Montserrat"/>
                <a:ea typeface="Montserrat"/>
                <a:cs typeface="Montserrat"/>
              </a:rPr>
              <a:t>02 · Реестр ФСП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5424" y="3027680"/>
            <a:ext cx="320040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Адаптер уже отделён; реестр пока демонстрационный.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После доступа к API ФСП: вход по ФСП ID, история участия, источник и обновление достижений.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2159000"/>
            <a:ext cx="3566160" cy="33020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2E4F0"/>
            </a:solidFill>
          </a:ln>
          <a:effectLst>
            <a:outerShdw blurRad="152400" dist="25400" dir="5400000" algn="t" rotWithShape="0">
              <a:srgbClr val="1A1446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2341880"/>
            <a:ext cx="3127248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EC1D35"/>
                </a:solidFill>
                <a:latin typeface="Montserrat"/>
                <a:ea typeface="Montserrat"/>
                <a:cs typeface="Montserrat"/>
              </a:rPr>
              <a:t>03 · Работодатели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027680"/>
            <a:ext cx="3127248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Пилот с компаниями.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ATS: статусы и вебхуки.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Защита от фиктивных вакансий.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lang="ru-RU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Проверка подписки и стоимости найма.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A0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EC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56032"/>
            <a:ext cx="11201400" cy="5852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8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КОД.МЭТЧ: попробуйте сквозной сценарий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914400"/>
            <a:ext cx="10972800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0" lang="ru-RU">
                <a:solidFill>
                  <a:srgbClr val="DDDDF3"/>
                </a:solidFill>
                <a:latin typeface="Montserrat"/>
                <a:ea typeface="Montserrat"/>
                <a:cs typeface="Montserrat"/>
              </a:rPr>
              <a:t>Демо-путь: тест → категория → подбор → приглашение → согласие → контакты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455664"/>
            <a:ext cx="108813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C1C2D9"/>
                </a:solidFill>
                <a:latin typeface="Montserrat"/>
                <a:ea typeface="Montserrat"/>
                <a:cs typeface="Montserrat"/>
              </a:rPr>
              <a:t>unecon.tech  /  КОД.МЭТЧ  /  ЛЦТ 2026 · ФСП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557784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16</a:t>
            </a:r>
          </a:p>
        </p:txBody>
      </p:sp>
      <p:pic>
        <p:nvPicPr>
          <p:cNvPr id="13" name="Picture 12" descr="kodmatch-mark-symmetric-v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819656"/>
            <a:ext cx="3227832" cy="32278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800" y="1905000"/>
            <a:ext cx="7616952" cy="304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300" b="1">
                <a:solidFill>
                  <a:srgbClr val="B8B3FF"/>
                </a:solidFill>
                <a:latin typeface="Montserrat"/>
                <a:ea typeface="Montserrat"/>
                <a:cs typeface="Montserrat"/>
              </a:rPr>
              <a:t>СТЕНД ДЛЯ ПРОВЕРКИ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184400"/>
            <a:ext cx="7543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600" b="1">
                <a:solidFill>
                  <a:srgbClr val="FFFFFF"/>
                </a:solidFill>
                <a:latin typeface="Montserrat"/>
                <a:ea typeface="Montserrat"/>
                <a:cs typeface="Montserrat"/>
                <a:hlinkClick r:id="rId3"/>
              </a:rPr>
              <a:t>https://fsp.digital-projects.tech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46400"/>
            <a:ext cx="7616952" cy="304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300" b="1">
                <a:solidFill>
                  <a:srgbClr val="B8B3FF"/>
                </a:solidFill>
                <a:latin typeface="Montserrat"/>
                <a:ea typeface="Montserrat"/>
                <a:cs typeface="Montserrat"/>
              </a:rPr>
              <a:t>БОТ В MAX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87800"/>
            <a:ext cx="7616952" cy="304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300" b="1">
                <a:solidFill>
                  <a:srgbClr val="B8B3FF"/>
                </a:solidFill>
                <a:latin typeface="Montserrat"/>
                <a:ea typeface="Montserrat"/>
                <a:cs typeface="Montserrat"/>
              </a:rPr>
              <a:t>ИСХОДНЫЙ КОД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225800"/>
            <a:ext cx="7543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FFFFFF"/>
                </a:solidFill>
                <a:latin typeface="Montserrat"/>
                <a:ea typeface="Montserrat"/>
                <a:cs typeface="Montserrat"/>
                <a:hlinkClick r:id="rId4"/>
              </a:rPr>
              <a:t>https://max.ru/se14505142_1_bot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67200"/>
            <a:ext cx="106070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>
                <a:solidFill>
                  <a:srgbClr val="FFFFFF"/>
                </a:solidFill>
                <a:latin typeface="Montserrat"/>
                <a:ea typeface="Montserrat"/>
                <a:cs typeface="Montserrat"/>
                <a:hlinkClick r:id="rId5"/>
              </a:rPr>
              <a:t>https://github.com/Valery766/kodmatch-lct-2026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07000"/>
            <a:ext cx="10561320" cy="4937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0">
                <a:solidFill>
                  <a:srgbClr val="DDDDF3"/>
                </a:solidFill>
                <a:latin typeface="Montserrat"/>
                <a:ea typeface="Montserrat"/>
                <a:cs typeface="Montserrat"/>
              </a:rPr>
              <a:t>Документы и результаты проверки – в комплекте сдачи. Поддержка: codematch@mail.ru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FFFF"/>
      </a:hlink>
      <a:folHlink>
        <a:srgbClr val="FFFFFF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FFFFF"/>
      </a:hlink>
      <a:folHlink>
        <a:srgbClr val="FFFFFF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FFFFF"/>
      </a:hlink>
      <a:folHlink>
        <a:srgbClr val="FFFFFF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1110</Words>
  <Application>Microsoft Macintosh PowerPoint</Application>
  <PresentationFormat>Широкоэкранный</PresentationFormat>
  <Paragraphs>417</Paragraphs>
  <Slides>16</Slides>
  <Notes>16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0" baseType="lpstr">
      <vt:lpstr>Arial</vt:lpstr>
      <vt:lpstr>Montserrat</vt:lpstr>
      <vt:lpstr>Wingdings</vt:lpstr>
      <vt:lpstr>Для Академия инноваторов 16_9</vt:lpstr>
      <vt:lpstr>КОД.МЭТЧ</vt:lpstr>
      <vt:lpstr>unecon.tech</vt:lpstr>
      <vt:lpstr>КОМАНДА UNECON.TECH</vt:lpstr>
      <vt:lpstr>КОМАНДА И ВЫЗОВЫ</vt:lpstr>
      <vt:lpstr>КОРОТКО О РЕШЕНИИ</vt:lpstr>
      <vt:lpstr>Работодатель приходит к подтверждённым навыкам</vt:lpstr>
      <vt:lpstr>Подбор – прозрачный индекс правил</vt:lpstr>
      <vt:lpstr>Варианты разные – сложность сопоставима</vt:lpstr>
      <vt:lpstr>Тестирование: повторы и перенос ответов</vt:lpstr>
      <vt:lpstr>Подбор: авторские метки и фиксированный holdout</vt:lpstr>
      <vt:lpstr>Контакты открывает кандидат, а не модель</vt:lpstr>
      <vt:lpstr>Рабочий продукт: экраны и проверенные сценарии</vt:lpstr>
      <vt:lpstr>MAX: тот же кабинет, те же доказательства</vt:lpstr>
      <vt:lpstr>Архитектура: критические решения по правилам</vt:lpstr>
      <vt:lpstr>Развитие от MVP к кадровому контуру</vt:lpstr>
      <vt:lpstr>КОД.МЭТЧ: попробуйте сквозной сценарий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КОД.МЭТЧ · unecon.tech · ЛЦТ 2026 / специальный трек ФСП</dc:title>
  <dc:creator>unecon.tech</dc:creator>
  <cp:lastModifiedBy>unecon.tech</cp:lastModifiedBy>
  <cp:revision>98</cp:revision>
  <dcterms:created xsi:type="dcterms:W3CDTF">2026-10-11T12:00:00Z</dcterms:created>
  <dcterms:modified xsi:type="dcterms:W3CDTF">2026-10-11T15:30:00Z</dcterms:modified>
  <dc:subject>Практические тесты, объяснимый подбор и управляемый контакт</dc:subject>
  <dc:description/>
</cp:coreProperties>
</file>